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7" r:id="rId3"/>
    <p:sldId id="271" r:id="rId4"/>
    <p:sldId id="258" r:id="rId5"/>
    <p:sldId id="272" r:id="rId6"/>
    <p:sldId id="273" r:id="rId7"/>
    <p:sldId id="274" r:id="rId8"/>
    <p:sldId id="276" r:id="rId9"/>
    <p:sldId id="266" r:id="rId10"/>
    <p:sldId id="277" r:id="rId11"/>
    <p:sldId id="278" r:id="rId12"/>
    <p:sldId id="279" r:id="rId13"/>
    <p:sldId id="280" r:id="rId14"/>
    <p:sldId id="268" r:id="rId15"/>
    <p:sldId id="28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EE7"/>
    <a:srgbClr val="D9D4E1"/>
    <a:srgbClr val="FFFFE2"/>
    <a:srgbClr val="FFFFFF"/>
    <a:srgbClr val="E2E6ED"/>
    <a:srgbClr val="FCFFD0"/>
    <a:srgbClr val="ECEFDF"/>
    <a:srgbClr val="1F73EF"/>
    <a:srgbClr val="FF641D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椭圆 1"/>
          <p:cNvSpPr/>
          <p:nvPr/>
        </p:nvSpPr>
        <p:spPr>
          <a:xfrm>
            <a:off x="-1473200" y="2476500"/>
            <a:ext cx="15614015" cy="8532495"/>
          </a:xfrm>
          <a:prstGeom prst="ellipse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175760" y="686435"/>
            <a:ext cx="38404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玉环美</a:t>
            </a:r>
            <a:r>
              <a:rPr lang="zh-CN" altLang="en-US" sz="72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食</a:t>
            </a:r>
            <a:endParaRPr lang="zh-CN" altLang="en-US" sz="7200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60755" y="3673475"/>
            <a:ext cx="10269855" cy="2618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400"/>
              <a:t>关与玉环</a:t>
            </a:r>
            <a:r>
              <a:rPr lang="zh-CN" altLang="en-US" sz="4400">
                <a:latin typeface="黑体" panose="02010609060101010101" charset="-122"/>
                <a:ea typeface="黑体" panose="02010609060101010101" charset="-122"/>
              </a:rPr>
              <a:t>美食</a:t>
            </a:r>
            <a:r>
              <a:rPr lang="zh-CN" altLang="en-US" sz="4400"/>
              <a:t>现状与未来发展空间的调查</a:t>
            </a:r>
            <a:endParaRPr lang="zh-CN" altLang="en-US"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1819910" y="1721485"/>
            <a:ext cx="9326880" cy="3415030"/>
          </a:xfrm>
          <a:prstGeom prst="rect">
            <a:avLst/>
          </a:prstGeom>
          <a:noFill/>
          <a:ln>
            <a:noFill/>
          </a:ln>
          <a:effectLst>
            <a:reflection blurRad="6350" stA="50000" endA="300" endPos="55000" dir="5400000" sy="-100000" algn="bl" rotWithShape="0"/>
          </a:effectLst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ln w="15875">
                  <a:solidFill>
                    <a:schemeClr val="accent1"/>
                  </a:solidFill>
                </a:ln>
                <a:noFill/>
                <a:effectLst/>
              </a:rPr>
              <a:t>①玉环美食的历史传承</a:t>
            </a:r>
            <a:endParaRPr lang="zh-CN" altLang="en-US" sz="7200" b="1">
              <a:ln w="15875">
                <a:solidFill>
                  <a:schemeClr val="accent1"/>
                </a:solidFill>
              </a:ln>
              <a:noFill/>
              <a:effectLst/>
            </a:endParaRPr>
          </a:p>
          <a:p>
            <a:pPr algn="ctr"/>
            <a:r>
              <a:rPr lang="zh-CN" altLang="en-US" sz="7200" b="1">
                <a:ln w="15875">
                  <a:solidFill>
                    <a:schemeClr val="accent1"/>
                  </a:solidFill>
                </a:ln>
                <a:noFill/>
                <a:effectLst/>
              </a:rPr>
              <a:t>②玉环美食的发展现状</a:t>
            </a:r>
            <a:endParaRPr lang="zh-CN" altLang="en-US" sz="7200" b="1">
              <a:ln w="15875">
                <a:solidFill>
                  <a:schemeClr val="accent1"/>
                </a:solidFill>
              </a:ln>
              <a:noFill/>
              <a:effectLst/>
            </a:endParaRPr>
          </a:p>
          <a:p>
            <a:pPr algn="ctr"/>
            <a:r>
              <a:rPr lang="zh-CN" altLang="en-US" sz="7200" b="1">
                <a:ln w="15875">
                  <a:solidFill>
                    <a:schemeClr val="accent1"/>
                  </a:solidFill>
                </a:ln>
                <a:noFill/>
                <a:effectLst/>
              </a:rPr>
              <a:t>③发展空间与未来规划</a:t>
            </a:r>
            <a:endParaRPr lang="zh-CN" altLang="en-US" sz="7200" b="1">
              <a:ln w="15875">
                <a:solidFill>
                  <a:schemeClr val="accent1"/>
                </a:solidFill>
              </a:ln>
              <a:noFill/>
              <a:effectLst/>
            </a:endParaRPr>
          </a:p>
        </p:txBody>
      </p:sp>
      <p:sp>
        <p:nvSpPr>
          <p:cNvPr id="4" name="等腰三角形 3"/>
          <p:cNvSpPr/>
          <p:nvPr/>
        </p:nvSpPr>
        <p:spPr>
          <a:xfrm flipV="1">
            <a:off x="188595" y="0"/>
            <a:ext cx="12003405" cy="2412365"/>
          </a:xfrm>
          <a:prstGeom prst="triangle">
            <a:avLst>
              <a:gd name="adj" fmla="val 49161"/>
            </a:avLst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任意多边形 6"/>
          <p:cNvSpPr>
            <a:spLocks noChangeAspect="1"/>
          </p:cNvSpPr>
          <p:nvPr/>
        </p:nvSpPr>
        <p:spPr>
          <a:xfrm>
            <a:off x="9020157" y="-2090849"/>
            <a:ext cx="5335265" cy="5338628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402" h="8407">
                <a:moveTo>
                  <a:pt x="6222" y="4864"/>
                </a:moveTo>
                <a:lnTo>
                  <a:pt x="8402" y="4864"/>
                </a:lnTo>
                <a:lnTo>
                  <a:pt x="8396" y="4904"/>
                </a:lnTo>
                <a:cubicBezTo>
                  <a:pt x="8097" y="6709"/>
                  <a:pt x="6661" y="8130"/>
                  <a:pt x="4849" y="8407"/>
                </a:cubicBezTo>
                <a:lnTo>
                  <a:pt x="4844" y="8407"/>
                </a:lnTo>
                <a:lnTo>
                  <a:pt x="4844" y="6231"/>
                </a:lnTo>
                <a:lnTo>
                  <a:pt x="4883" y="6218"/>
                </a:lnTo>
                <a:cubicBezTo>
                  <a:pt x="5509" y="6006"/>
                  <a:pt x="6004" y="5511"/>
                  <a:pt x="6215" y="4886"/>
                </a:cubicBezTo>
                <a:lnTo>
                  <a:pt x="6222" y="4864"/>
                </a:lnTo>
                <a:close/>
                <a:moveTo>
                  <a:pt x="0" y="4864"/>
                </a:moveTo>
                <a:lnTo>
                  <a:pt x="2180" y="4864"/>
                </a:lnTo>
                <a:lnTo>
                  <a:pt x="2187" y="4886"/>
                </a:lnTo>
                <a:cubicBezTo>
                  <a:pt x="2398" y="5511"/>
                  <a:pt x="2893" y="6006"/>
                  <a:pt x="3519" y="6218"/>
                </a:cubicBezTo>
                <a:lnTo>
                  <a:pt x="3558" y="6231"/>
                </a:lnTo>
                <a:lnTo>
                  <a:pt x="3558" y="8407"/>
                </a:lnTo>
                <a:lnTo>
                  <a:pt x="3553" y="8407"/>
                </a:lnTo>
                <a:cubicBezTo>
                  <a:pt x="1741" y="8130"/>
                  <a:pt x="305" y="6709"/>
                  <a:pt x="6" y="4904"/>
                </a:cubicBezTo>
                <a:lnTo>
                  <a:pt x="0" y="4864"/>
                </a:lnTo>
                <a:close/>
                <a:moveTo>
                  <a:pt x="4844" y="0"/>
                </a:moveTo>
                <a:lnTo>
                  <a:pt x="4849" y="1"/>
                </a:lnTo>
                <a:cubicBezTo>
                  <a:pt x="6661" y="278"/>
                  <a:pt x="8097" y="1699"/>
                  <a:pt x="8396" y="3503"/>
                </a:cubicBezTo>
                <a:lnTo>
                  <a:pt x="8402" y="3544"/>
                </a:lnTo>
                <a:lnTo>
                  <a:pt x="6222" y="3544"/>
                </a:lnTo>
                <a:lnTo>
                  <a:pt x="6215" y="3522"/>
                </a:lnTo>
                <a:cubicBezTo>
                  <a:pt x="6004" y="2896"/>
                  <a:pt x="5509" y="2401"/>
                  <a:pt x="4883" y="2189"/>
                </a:cubicBezTo>
                <a:lnTo>
                  <a:pt x="4844" y="2177"/>
                </a:lnTo>
                <a:lnTo>
                  <a:pt x="4844" y="0"/>
                </a:lnTo>
                <a:close/>
                <a:moveTo>
                  <a:pt x="3558" y="0"/>
                </a:moveTo>
                <a:lnTo>
                  <a:pt x="3558" y="2177"/>
                </a:lnTo>
                <a:lnTo>
                  <a:pt x="3519" y="2189"/>
                </a:lnTo>
                <a:cubicBezTo>
                  <a:pt x="2893" y="2401"/>
                  <a:pt x="2398" y="2896"/>
                  <a:pt x="2187" y="3522"/>
                </a:cubicBezTo>
                <a:lnTo>
                  <a:pt x="2180" y="3544"/>
                </a:lnTo>
                <a:lnTo>
                  <a:pt x="0" y="3544"/>
                </a:lnTo>
                <a:lnTo>
                  <a:pt x="6" y="3503"/>
                </a:lnTo>
                <a:cubicBezTo>
                  <a:pt x="305" y="1699"/>
                  <a:pt x="1741" y="278"/>
                  <a:pt x="3553" y="1"/>
                </a:cubicBezTo>
                <a:lnTo>
                  <a:pt x="3558" y="0"/>
                </a:lnTo>
                <a:close/>
              </a:path>
            </a:pathLst>
          </a:custGeom>
          <a:solidFill>
            <a:srgbClr val="FF641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-1104265" y="952500"/>
            <a:ext cx="7200000" cy="7200000"/>
          </a:xfrm>
          <a:prstGeom prst="ellipse">
            <a:avLst/>
          </a:prstGeom>
          <a:solidFill>
            <a:srgbClr val="1F73EF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910455" y="952500"/>
            <a:ext cx="4286885" cy="157226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9876473" y="1325880"/>
            <a:ext cx="69151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1</a:t>
            </a:r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23925" y="3846195"/>
            <a:ext cx="8096250" cy="4892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solidFill>
                  <a:srgbClr val="FFC000"/>
                </a:solidFill>
                <a:latin typeface="楷体" panose="02010609060101010101" charset="-122"/>
                <a:ea typeface="楷体" panose="02010609060101010101" charset="-122"/>
              </a:rPr>
              <a:t>玉环美食的历史传承</a:t>
            </a:r>
            <a:endParaRPr lang="zh-CN" altLang="en-US" sz="6600">
              <a:solidFill>
                <a:srgbClr val="FFC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任意多边形 6"/>
          <p:cNvSpPr>
            <a:spLocks noChangeAspect="1"/>
          </p:cNvSpPr>
          <p:nvPr/>
        </p:nvSpPr>
        <p:spPr>
          <a:xfrm>
            <a:off x="9020157" y="-2090849"/>
            <a:ext cx="5335265" cy="5338628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402" h="8407">
                <a:moveTo>
                  <a:pt x="6222" y="4864"/>
                </a:moveTo>
                <a:lnTo>
                  <a:pt x="8402" y="4864"/>
                </a:lnTo>
                <a:lnTo>
                  <a:pt x="8396" y="4904"/>
                </a:lnTo>
                <a:cubicBezTo>
                  <a:pt x="8097" y="6709"/>
                  <a:pt x="6661" y="8130"/>
                  <a:pt x="4849" y="8407"/>
                </a:cubicBezTo>
                <a:lnTo>
                  <a:pt x="4844" y="8407"/>
                </a:lnTo>
                <a:lnTo>
                  <a:pt x="4844" y="6231"/>
                </a:lnTo>
                <a:lnTo>
                  <a:pt x="4883" y="6218"/>
                </a:lnTo>
                <a:cubicBezTo>
                  <a:pt x="5509" y="6006"/>
                  <a:pt x="6004" y="5511"/>
                  <a:pt x="6215" y="4886"/>
                </a:cubicBezTo>
                <a:lnTo>
                  <a:pt x="6222" y="4864"/>
                </a:lnTo>
                <a:close/>
                <a:moveTo>
                  <a:pt x="0" y="4864"/>
                </a:moveTo>
                <a:lnTo>
                  <a:pt x="2180" y="4864"/>
                </a:lnTo>
                <a:lnTo>
                  <a:pt x="2187" y="4886"/>
                </a:lnTo>
                <a:cubicBezTo>
                  <a:pt x="2398" y="5511"/>
                  <a:pt x="2893" y="6006"/>
                  <a:pt x="3519" y="6218"/>
                </a:cubicBezTo>
                <a:lnTo>
                  <a:pt x="3558" y="6231"/>
                </a:lnTo>
                <a:lnTo>
                  <a:pt x="3558" y="8407"/>
                </a:lnTo>
                <a:lnTo>
                  <a:pt x="3553" y="8407"/>
                </a:lnTo>
                <a:cubicBezTo>
                  <a:pt x="1741" y="8130"/>
                  <a:pt x="305" y="6709"/>
                  <a:pt x="6" y="4904"/>
                </a:cubicBezTo>
                <a:lnTo>
                  <a:pt x="0" y="4864"/>
                </a:lnTo>
                <a:close/>
                <a:moveTo>
                  <a:pt x="4844" y="0"/>
                </a:moveTo>
                <a:lnTo>
                  <a:pt x="4849" y="1"/>
                </a:lnTo>
                <a:cubicBezTo>
                  <a:pt x="6661" y="278"/>
                  <a:pt x="8097" y="1699"/>
                  <a:pt x="8396" y="3503"/>
                </a:cubicBezTo>
                <a:lnTo>
                  <a:pt x="8402" y="3544"/>
                </a:lnTo>
                <a:lnTo>
                  <a:pt x="6222" y="3544"/>
                </a:lnTo>
                <a:lnTo>
                  <a:pt x="6215" y="3522"/>
                </a:lnTo>
                <a:cubicBezTo>
                  <a:pt x="6004" y="2896"/>
                  <a:pt x="5509" y="2401"/>
                  <a:pt x="4883" y="2189"/>
                </a:cubicBezTo>
                <a:lnTo>
                  <a:pt x="4844" y="2177"/>
                </a:lnTo>
                <a:lnTo>
                  <a:pt x="4844" y="0"/>
                </a:lnTo>
                <a:close/>
                <a:moveTo>
                  <a:pt x="3558" y="0"/>
                </a:moveTo>
                <a:lnTo>
                  <a:pt x="3558" y="2177"/>
                </a:lnTo>
                <a:lnTo>
                  <a:pt x="3519" y="2189"/>
                </a:lnTo>
                <a:cubicBezTo>
                  <a:pt x="2893" y="2401"/>
                  <a:pt x="2398" y="2896"/>
                  <a:pt x="2187" y="3522"/>
                </a:cubicBezTo>
                <a:lnTo>
                  <a:pt x="2180" y="3544"/>
                </a:lnTo>
                <a:lnTo>
                  <a:pt x="0" y="3544"/>
                </a:lnTo>
                <a:lnTo>
                  <a:pt x="6" y="3503"/>
                </a:lnTo>
                <a:cubicBezTo>
                  <a:pt x="305" y="1699"/>
                  <a:pt x="1741" y="278"/>
                  <a:pt x="3553" y="1"/>
                </a:cubicBezTo>
                <a:lnTo>
                  <a:pt x="3558" y="0"/>
                </a:lnTo>
                <a:close/>
              </a:path>
            </a:pathLst>
          </a:custGeom>
          <a:solidFill>
            <a:srgbClr val="FF641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-1104265" y="952500"/>
            <a:ext cx="7200000" cy="7200000"/>
          </a:xfrm>
          <a:prstGeom prst="ellipse">
            <a:avLst/>
          </a:prstGeom>
          <a:solidFill>
            <a:srgbClr val="1F73EF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910455" y="952500"/>
            <a:ext cx="4286885" cy="157226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9876473" y="1325880"/>
            <a:ext cx="69151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1</a:t>
            </a:r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304165"/>
            <a:ext cx="8096250" cy="4892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solidFill>
                  <a:srgbClr val="FFC000"/>
                </a:solidFill>
                <a:latin typeface="楷体" panose="02010609060101010101" charset="-122"/>
                <a:ea typeface="楷体" panose="02010609060101010101" charset="-122"/>
              </a:rPr>
              <a:t>玉环美食的历史传承</a:t>
            </a:r>
            <a:endParaRPr lang="zh-CN" altLang="en-US" sz="6600">
              <a:solidFill>
                <a:srgbClr val="FFC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28065" y="3245485"/>
            <a:ext cx="10579735" cy="306133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玉环美食的历史传承，是一部与海洋共生、与迁徙交融的渔耕文明史。它的根脉，深植于玉环先民“耕海牧渔”的生存智慧，并在数百年的人口迁徙与文化碰撞中，形成了今天山海交融的独特风味。</a:t>
            </a:r>
            <a:endParaRPr lang="zh-CN" altLang="en-US" sz="3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任意多边形 6"/>
          <p:cNvSpPr>
            <a:spLocks noChangeAspect="1"/>
          </p:cNvSpPr>
          <p:nvPr/>
        </p:nvSpPr>
        <p:spPr>
          <a:xfrm>
            <a:off x="9020157" y="-2090849"/>
            <a:ext cx="5335265" cy="5338628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402" h="8407">
                <a:moveTo>
                  <a:pt x="6222" y="4864"/>
                </a:moveTo>
                <a:lnTo>
                  <a:pt x="8402" y="4864"/>
                </a:lnTo>
                <a:lnTo>
                  <a:pt x="8396" y="4904"/>
                </a:lnTo>
                <a:cubicBezTo>
                  <a:pt x="8097" y="6709"/>
                  <a:pt x="6661" y="8130"/>
                  <a:pt x="4849" y="8407"/>
                </a:cubicBezTo>
                <a:lnTo>
                  <a:pt x="4844" y="8407"/>
                </a:lnTo>
                <a:lnTo>
                  <a:pt x="4844" y="6231"/>
                </a:lnTo>
                <a:lnTo>
                  <a:pt x="4883" y="6218"/>
                </a:lnTo>
                <a:cubicBezTo>
                  <a:pt x="5509" y="6006"/>
                  <a:pt x="6004" y="5511"/>
                  <a:pt x="6215" y="4886"/>
                </a:cubicBezTo>
                <a:lnTo>
                  <a:pt x="6222" y="4864"/>
                </a:lnTo>
                <a:close/>
                <a:moveTo>
                  <a:pt x="0" y="4864"/>
                </a:moveTo>
                <a:lnTo>
                  <a:pt x="2180" y="4864"/>
                </a:lnTo>
                <a:lnTo>
                  <a:pt x="2187" y="4886"/>
                </a:lnTo>
                <a:cubicBezTo>
                  <a:pt x="2398" y="5511"/>
                  <a:pt x="2893" y="6006"/>
                  <a:pt x="3519" y="6218"/>
                </a:cubicBezTo>
                <a:lnTo>
                  <a:pt x="3558" y="6231"/>
                </a:lnTo>
                <a:lnTo>
                  <a:pt x="3558" y="8407"/>
                </a:lnTo>
                <a:lnTo>
                  <a:pt x="3553" y="8407"/>
                </a:lnTo>
                <a:cubicBezTo>
                  <a:pt x="1741" y="8130"/>
                  <a:pt x="305" y="6709"/>
                  <a:pt x="6" y="4904"/>
                </a:cubicBezTo>
                <a:lnTo>
                  <a:pt x="0" y="4864"/>
                </a:lnTo>
                <a:close/>
                <a:moveTo>
                  <a:pt x="4844" y="0"/>
                </a:moveTo>
                <a:lnTo>
                  <a:pt x="4849" y="1"/>
                </a:lnTo>
                <a:cubicBezTo>
                  <a:pt x="6661" y="278"/>
                  <a:pt x="8097" y="1699"/>
                  <a:pt x="8396" y="3503"/>
                </a:cubicBezTo>
                <a:lnTo>
                  <a:pt x="8402" y="3544"/>
                </a:lnTo>
                <a:lnTo>
                  <a:pt x="6222" y="3544"/>
                </a:lnTo>
                <a:lnTo>
                  <a:pt x="6215" y="3522"/>
                </a:lnTo>
                <a:cubicBezTo>
                  <a:pt x="6004" y="2896"/>
                  <a:pt x="5509" y="2401"/>
                  <a:pt x="4883" y="2189"/>
                </a:cubicBezTo>
                <a:lnTo>
                  <a:pt x="4844" y="2177"/>
                </a:lnTo>
                <a:lnTo>
                  <a:pt x="4844" y="0"/>
                </a:lnTo>
                <a:close/>
                <a:moveTo>
                  <a:pt x="3558" y="0"/>
                </a:moveTo>
                <a:lnTo>
                  <a:pt x="3558" y="2177"/>
                </a:lnTo>
                <a:lnTo>
                  <a:pt x="3519" y="2189"/>
                </a:lnTo>
                <a:cubicBezTo>
                  <a:pt x="2893" y="2401"/>
                  <a:pt x="2398" y="2896"/>
                  <a:pt x="2187" y="3522"/>
                </a:cubicBezTo>
                <a:lnTo>
                  <a:pt x="2180" y="3544"/>
                </a:lnTo>
                <a:lnTo>
                  <a:pt x="0" y="3544"/>
                </a:lnTo>
                <a:lnTo>
                  <a:pt x="6" y="3503"/>
                </a:lnTo>
                <a:cubicBezTo>
                  <a:pt x="305" y="1699"/>
                  <a:pt x="1741" y="278"/>
                  <a:pt x="3553" y="1"/>
                </a:cubicBezTo>
                <a:lnTo>
                  <a:pt x="3558" y="0"/>
                </a:lnTo>
                <a:close/>
              </a:path>
            </a:pathLst>
          </a:custGeom>
          <a:solidFill>
            <a:srgbClr val="FF641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-1104265" y="952500"/>
            <a:ext cx="7200000" cy="7200000"/>
          </a:xfrm>
          <a:prstGeom prst="ellipse">
            <a:avLst/>
          </a:prstGeom>
          <a:solidFill>
            <a:srgbClr val="1F73EF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910455" y="952500"/>
            <a:ext cx="4286885" cy="157226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9876473" y="1325880"/>
            <a:ext cx="69151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1</a:t>
            </a:r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304165"/>
            <a:ext cx="8096250" cy="4892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solidFill>
                  <a:srgbClr val="FFC000"/>
                </a:solidFill>
                <a:latin typeface="楷体" panose="02010609060101010101" charset="-122"/>
                <a:ea typeface="楷体" panose="02010609060101010101" charset="-122"/>
              </a:rPr>
              <a:t>玉环美食的历史传承</a:t>
            </a:r>
            <a:endParaRPr lang="zh-CN" altLang="en-US" sz="6600">
              <a:solidFill>
                <a:srgbClr val="FFC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28065" y="3245485"/>
            <a:ext cx="10579735" cy="306133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3600"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源于生存：渔家智慧里的“应急”与“匠心</a:t>
            </a:r>
            <a:r>
              <a:rPr lang="zh-CN" alt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endParaRPr lang="zh-CN" altLang="en-US" sz="3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en-US" altLang="zh-CN" sz="3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r>
              <a:rPr lang="zh-CN" alt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玉环美食的起点，大多源于渔民出海时“鲜鱼不易保存”的现实难题。为了在海上也能吃上一口“海味”，渔家先民摸索出了多种保存与转化的智慧。</a:t>
            </a:r>
            <a:endParaRPr lang="zh-CN" altLang="en-US" sz="3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zh-CN" altLang="en-US" sz="3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任意多边形 6"/>
          <p:cNvSpPr>
            <a:spLocks noChangeAspect="1"/>
          </p:cNvSpPr>
          <p:nvPr/>
        </p:nvSpPr>
        <p:spPr>
          <a:xfrm>
            <a:off x="9020157" y="-2090849"/>
            <a:ext cx="5335265" cy="5338628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402" h="8407">
                <a:moveTo>
                  <a:pt x="6222" y="4864"/>
                </a:moveTo>
                <a:lnTo>
                  <a:pt x="8402" y="4864"/>
                </a:lnTo>
                <a:lnTo>
                  <a:pt x="8396" y="4904"/>
                </a:lnTo>
                <a:cubicBezTo>
                  <a:pt x="8097" y="6709"/>
                  <a:pt x="6661" y="8130"/>
                  <a:pt x="4849" y="8407"/>
                </a:cubicBezTo>
                <a:lnTo>
                  <a:pt x="4844" y="8407"/>
                </a:lnTo>
                <a:lnTo>
                  <a:pt x="4844" y="6231"/>
                </a:lnTo>
                <a:lnTo>
                  <a:pt x="4883" y="6218"/>
                </a:lnTo>
                <a:cubicBezTo>
                  <a:pt x="5509" y="6006"/>
                  <a:pt x="6004" y="5511"/>
                  <a:pt x="6215" y="4886"/>
                </a:cubicBezTo>
                <a:lnTo>
                  <a:pt x="6222" y="4864"/>
                </a:lnTo>
                <a:close/>
                <a:moveTo>
                  <a:pt x="0" y="4864"/>
                </a:moveTo>
                <a:lnTo>
                  <a:pt x="2180" y="4864"/>
                </a:lnTo>
                <a:lnTo>
                  <a:pt x="2187" y="4886"/>
                </a:lnTo>
                <a:cubicBezTo>
                  <a:pt x="2398" y="5511"/>
                  <a:pt x="2893" y="6006"/>
                  <a:pt x="3519" y="6218"/>
                </a:cubicBezTo>
                <a:lnTo>
                  <a:pt x="3558" y="6231"/>
                </a:lnTo>
                <a:lnTo>
                  <a:pt x="3558" y="8407"/>
                </a:lnTo>
                <a:lnTo>
                  <a:pt x="3553" y="8407"/>
                </a:lnTo>
                <a:cubicBezTo>
                  <a:pt x="1741" y="8130"/>
                  <a:pt x="305" y="6709"/>
                  <a:pt x="6" y="4904"/>
                </a:cubicBezTo>
                <a:lnTo>
                  <a:pt x="0" y="4864"/>
                </a:lnTo>
                <a:close/>
                <a:moveTo>
                  <a:pt x="4844" y="0"/>
                </a:moveTo>
                <a:lnTo>
                  <a:pt x="4849" y="1"/>
                </a:lnTo>
                <a:cubicBezTo>
                  <a:pt x="6661" y="278"/>
                  <a:pt x="8097" y="1699"/>
                  <a:pt x="8396" y="3503"/>
                </a:cubicBezTo>
                <a:lnTo>
                  <a:pt x="8402" y="3544"/>
                </a:lnTo>
                <a:lnTo>
                  <a:pt x="6222" y="3544"/>
                </a:lnTo>
                <a:lnTo>
                  <a:pt x="6215" y="3522"/>
                </a:lnTo>
                <a:cubicBezTo>
                  <a:pt x="6004" y="2896"/>
                  <a:pt x="5509" y="2401"/>
                  <a:pt x="4883" y="2189"/>
                </a:cubicBezTo>
                <a:lnTo>
                  <a:pt x="4844" y="2177"/>
                </a:lnTo>
                <a:lnTo>
                  <a:pt x="4844" y="0"/>
                </a:lnTo>
                <a:close/>
                <a:moveTo>
                  <a:pt x="3558" y="0"/>
                </a:moveTo>
                <a:lnTo>
                  <a:pt x="3558" y="2177"/>
                </a:lnTo>
                <a:lnTo>
                  <a:pt x="3519" y="2189"/>
                </a:lnTo>
                <a:cubicBezTo>
                  <a:pt x="2893" y="2401"/>
                  <a:pt x="2398" y="2896"/>
                  <a:pt x="2187" y="3522"/>
                </a:cubicBezTo>
                <a:lnTo>
                  <a:pt x="2180" y="3544"/>
                </a:lnTo>
                <a:lnTo>
                  <a:pt x="0" y="3544"/>
                </a:lnTo>
                <a:lnTo>
                  <a:pt x="6" y="3503"/>
                </a:lnTo>
                <a:cubicBezTo>
                  <a:pt x="305" y="1699"/>
                  <a:pt x="1741" y="278"/>
                  <a:pt x="3553" y="1"/>
                </a:cubicBezTo>
                <a:lnTo>
                  <a:pt x="3558" y="0"/>
                </a:lnTo>
                <a:close/>
              </a:path>
            </a:pathLst>
          </a:custGeom>
          <a:solidFill>
            <a:srgbClr val="FF641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-1104265" y="952500"/>
            <a:ext cx="7200000" cy="7200000"/>
          </a:xfrm>
          <a:prstGeom prst="ellipse">
            <a:avLst/>
          </a:prstGeom>
          <a:solidFill>
            <a:srgbClr val="1F73EF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910455" y="952500"/>
            <a:ext cx="4286885" cy="157226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9876473" y="1325880"/>
            <a:ext cx="69151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1</a:t>
            </a:r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304165"/>
            <a:ext cx="8096250" cy="4892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solidFill>
                  <a:srgbClr val="FFC000"/>
                </a:solidFill>
                <a:latin typeface="楷体" panose="02010609060101010101" charset="-122"/>
                <a:ea typeface="楷体" panose="02010609060101010101" charset="-122"/>
              </a:rPr>
              <a:t>玉环美食的历史传承</a:t>
            </a:r>
            <a:endParaRPr lang="zh-CN" altLang="en-US" sz="6600">
              <a:solidFill>
                <a:srgbClr val="FFC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28065" y="2754630"/>
            <a:ext cx="10579735" cy="306133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3600"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兴于传说：抗倭记忆与节庆习俗的交织</a:t>
            </a:r>
            <a:endParaRPr lang="zh-CN" altLang="en-US" sz="3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en-US" altLang="zh-CN" sz="3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r>
              <a:rPr lang="zh-CN" alt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许多玉环美食的起源，都与明代戚继光抗倭的历史记忆紧密相连。相传戚家军曾用木棍敲击传递信息，战后这一技艺被民间沿用，逐渐演变为制作敲鱼面、鱼皮馄饨的独特手法。鱼皮馄饨至今仍是坎门人年夜饭中必不可少的一道菜肴。</a:t>
            </a:r>
            <a:endParaRPr lang="zh-CN" altLang="en-US" sz="3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任意多边形 6"/>
          <p:cNvSpPr>
            <a:spLocks noChangeAspect="1"/>
          </p:cNvSpPr>
          <p:nvPr/>
        </p:nvSpPr>
        <p:spPr>
          <a:xfrm>
            <a:off x="9020157" y="-2090849"/>
            <a:ext cx="5335265" cy="5338628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402" h="8407">
                <a:moveTo>
                  <a:pt x="6222" y="4864"/>
                </a:moveTo>
                <a:lnTo>
                  <a:pt x="8402" y="4864"/>
                </a:lnTo>
                <a:lnTo>
                  <a:pt x="8396" y="4904"/>
                </a:lnTo>
                <a:cubicBezTo>
                  <a:pt x="8097" y="6709"/>
                  <a:pt x="6661" y="8130"/>
                  <a:pt x="4849" y="8407"/>
                </a:cubicBezTo>
                <a:lnTo>
                  <a:pt x="4844" y="8407"/>
                </a:lnTo>
                <a:lnTo>
                  <a:pt x="4844" y="6231"/>
                </a:lnTo>
                <a:lnTo>
                  <a:pt x="4883" y="6218"/>
                </a:lnTo>
                <a:cubicBezTo>
                  <a:pt x="5509" y="6006"/>
                  <a:pt x="6004" y="5511"/>
                  <a:pt x="6215" y="4886"/>
                </a:cubicBezTo>
                <a:lnTo>
                  <a:pt x="6222" y="4864"/>
                </a:lnTo>
                <a:close/>
                <a:moveTo>
                  <a:pt x="0" y="4864"/>
                </a:moveTo>
                <a:lnTo>
                  <a:pt x="2180" y="4864"/>
                </a:lnTo>
                <a:lnTo>
                  <a:pt x="2187" y="4886"/>
                </a:lnTo>
                <a:cubicBezTo>
                  <a:pt x="2398" y="5511"/>
                  <a:pt x="2893" y="6006"/>
                  <a:pt x="3519" y="6218"/>
                </a:cubicBezTo>
                <a:lnTo>
                  <a:pt x="3558" y="6231"/>
                </a:lnTo>
                <a:lnTo>
                  <a:pt x="3558" y="8407"/>
                </a:lnTo>
                <a:lnTo>
                  <a:pt x="3553" y="8407"/>
                </a:lnTo>
                <a:cubicBezTo>
                  <a:pt x="1741" y="8130"/>
                  <a:pt x="305" y="6709"/>
                  <a:pt x="6" y="4904"/>
                </a:cubicBezTo>
                <a:lnTo>
                  <a:pt x="0" y="4864"/>
                </a:lnTo>
                <a:close/>
                <a:moveTo>
                  <a:pt x="4844" y="0"/>
                </a:moveTo>
                <a:lnTo>
                  <a:pt x="4849" y="1"/>
                </a:lnTo>
                <a:cubicBezTo>
                  <a:pt x="6661" y="278"/>
                  <a:pt x="8097" y="1699"/>
                  <a:pt x="8396" y="3503"/>
                </a:cubicBezTo>
                <a:lnTo>
                  <a:pt x="8402" y="3544"/>
                </a:lnTo>
                <a:lnTo>
                  <a:pt x="6222" y="3544"/>
                </a:lnTo>
                <a:lnTo>
                  <a:pt x="6215" y="3522"/>
                </a:lnTo>
                <a:cubicBezTo>
                  <a:pt x="6004" y="2896"/>
                  <a:pt x="5509" y="2401"/>
                  <a:pt x="4883" y="2189"/>
                </a:cubicBezTo>
                <a:lnTo>
                  <a:pt x="4844" y="2177"/>
                </a:lnTo>
                <a:lnTo>
                  <a:pt x="4844" y="0"/>
                </a:lnTo>
                <a:close/>
                <a:moveTo>
                  <a:pt x="3558" y="0"/>
                </a:moveTo>
                <a:lnTo>
                  <a:pt x="3558" y="2177"/>
                </a:lnTo>
                <a:lnTo>
                  <a:pt x="3519" y="2189"/>
                </a:lnTo>
                <a:cubicBezTo>
                  <a:pt x="2893" y="2401"/>
                  <a:pt x="2398" y="2896"/>
                  <a:pt x="2187" y="3522"/>
                </a:cubicBezTo>
                <a:lnTo>
                  <a:pt x="2180" y="3544"/>
                </a:lnTo>
                <a:lnTo>
                  <a:pt x="0" y="3544"/>
                </a:lnTo>
                <a:lnTo>
                  <a:pt x="6" y="3503"/>
                </a:lnTo>
                <a:cubicBezTo>
                  <a:pt x="305" y="1699"/>
                  <a:pt x="1741" y="278"/>
                  <a:pt x="3553" y="1"/>
                </a:cubicBezTo>
                <a:lnTo>
                  <a:pt x="3558" y="0"/>
                </a:lnTo>
                <a:close/>
              </a:path>
            </a:pathLst>
          </a:custGeom>
          <a:solidFill>
            <a:srgbClr val="FF641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-1104265" y="952500"/>
            <a:ext cx="7200000" cy="7200000"/>
          </a:xfrm>
          <a:prstGeom prst="ellipse">
            <a:avLst/>
          </a:prstGeom>
          <a:solidFill>
            <a:srgbClr val="1F73EF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910455" y="952500"/>
            <a:ext cx="4286885" cy="157226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9876473" y="1325880"/>
            <a:ext cx="69151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1</a:t>
            </a:r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304165"/>
            <a:ext cx="8096250" cy="4892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solidFill>
                  <a:srgbClr val="FFC000"/>
                </a:solidFill>
                <a:latin typeface="楷体" panose="02010609060101010101" charset="-122"/>
                <a:ea typeface="楷体" panose="02010609060101010101" charset="-122"/>
              </a:rPr>
              <a:t>玉环美食的历史传承</a:t>
            </a:r>
            <a:endParaRPr lang="zh-CN" altLang="en-US" sz="6600">
              <a:solidFill>
                <a:srgbClr val="FFC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28065" y="2754630"/>
            <a:ext cx="10579735" cy="306133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3600"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成于交融：移民迁徙带来的风味融合</a:t>
            </a:r>
            <a:endParaRPr lang="zh-CN" altLang="en-US" sz="3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endParaRPr lang="en-US" altLang="zh-CN" sz="3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/>
            <a:r>
              <a:rPr lang="zh-CN" altLang="en-US" sz="36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玉环作为海岛移民城市，历史上多次大规模的人口迁徙带来了多元文化的碰撞，直接塑造了其饮食的丰富性。坎门人的祖先多来自福建泉州、惠安、东山一带，他们将闽南的饮食习俗与玉环本地的山海资源结合，孕育出了独特的坎门风味。</a:t>
            </a:r>
            <a:endParaRPr lang="zh-CN" altLang="en-US" sz="36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任意多边形 6"/>
          <p:cNvSpPr>
            <a:spLocks noChangeAspect="1"/>
          </p:cNvSpPr>
          <p:nvPr/>
        </p:nvSpPr>
        <p:spPr>
          <a:xfrm rot="10800000">
            <a:off x="-2193308" y="-2140379"/>
            <a:ext cx="5335265" cy="5338628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402" h="8407">
                <a:moveTo>
                  <a:pt x="6222" y="4864"/>
                </a:moveTo>
                <a:lnTo>
                  <a:pt x="8402" y="4864"/>
                </a:lnTo>
                <a:lnTo>
                  <a:pt x="8396" y="4904"/>
                </a:lnTo>
                <a:cubicBezTo>
                  <a:pt x="8097" y="6709"/>
                  <a:pt x="6661" y="8130"/>
                  <a:pt x="4849" y="8407"/>
                </a:cubicBezTo>
                <a:lnTo>
                  <a:pt x="4844" y="8407"/>
                </a:lnTo>
                <a:lnTo>
                  <a:pt x="4844" y="6231"/>
                </a:lnTo>
                <a:lnTo>
                  <a:pt x="4883" y="6218"/>
                </a:lnTo>
                <a:cubicBezTo>
                  <a:pt x="5509" y="6006"/>
                  <a:pt x="6004" y="5511"/>
                  <a:pt x="6215" y="4886"/>
                </a:cubicBezTo>
                <a:lnTo>
                  <a:pt x="6222" y="4864"/>
                </a:lnTo>
                <a:close/>
                <a:moveTo>
                  <a:pt x="0" y="4864"/>
                </a:moveTo>
                <a:lnTo>
                  <a:pt x="2180" y="4864"/>
                </a:lnTo>
                <a:lnTo>
                  <a:pt x="2187" y="4886"/>
                </a:lnTo>
                <a:cubicBezTo>
                  <a:pt x="2398" y="5511"/>
                  <a:pt x="2893" y="6006"/>
                  <a:pt x="3519" y="6218"/>
                </a:cubicBezTo>
                <a:lnTo>
                  <a:pt x="3558" y="6231"/>
                </a:lnTo>
                <a:lnTo>
                  <a:pt x="3558" y="8407"/>
                </a:lnTo>
                <a:lnTo>
                  <a:pt x="3553" y="8407"/>
                </a:lnTo>
                <a:cubicBezTo>
                  <a:pt x="1741" y="8130"/>
                  <a:pt x="305" y="6709"/>
                  <a:pt x="6" y="4904"/>
                </a:cubicBezTo>
                <a:lnTo>
                  <a:pt x="0" y="4864"/>
                </a:lnTo>
                <a:close/>
                <a:moveTo>
                  <a:pt x="4844" y="0"/>
                </a:moveTo>
                <a:lnTo>
                  <a:pt x="4849" y="1"/>
                </a:lnTo>
                <a:cubicBezTo>
                  <a:pt x="6661" y="278"/>
                  <a:pt x="8097" y="1699"/>
                  <a:pt x="8396" y="3503"/>
                </a:cubicBezTo>
                <a:lnTo>
                  <a:pt x="8402" y="3544"/>
                </a:lnTo>
                <a:lnTo>
                  <a:pt x="6222" y="3544"/>
                </a:lnTo>
                <a:lnTo>
                  <a:pt x="6215" y="3522"/>
                </a:lnTo>
                <a:cubicBezTo>
                  <a:pt x="6004" y="2896"/>
                  <a:pt x="5509" y="2401"/>
                  <a:pt x="4883" y="2189"/>
                </a:cubicBezTo>
                <a:lnTo>
                  <a:pt x="4844" y="2177"/>
                </a:lnTo>
                <a:lnTo>
                  <a:pt x="4844" y="0"/>
                </a:lnTo>
                <a:close/>
                <a:moveTo>
                  <a:pt x="3558" y="0"/>
                </a:moveTo>
                <a:lnTo>
                  <a:pt x="3558" y="2177"/>
                </a:lnTo>
                <a:lnTo>
                  <a:pt x="3519" y="2189"/>
                </a:lnTo>
                <a:cubicBezTo>
                  <a:pt x="2893" y="2401"/>
                  <a:pt x="2398" y="2896"/>
                  <a:pt x="2187" y="3522"/>
                </a:cubicBezTo>
                <a:lnTo>
                  <a:pt x="2180" y="3544"/>
                </a:lnTo>
                <a:lnTo>
                  <a:pt x="0" y="3544"/>
                </a:lnTo>
                <a:lnTo>
                  <a:pt x="6" y="3503"/>
                </a:lnTo>
                <a:cubicBezTo>
                  <a:pt x="305" y="1699"/>
                  <a:pt x="1741" y="278"/>
                  <a:pt x="3553" y="1"/>
                </a:cubicBezTo>
                <a:lnTo>
                  <a:pt x="3558" y="0"/>
                </a:lnTo>
                <a:close/>
              </a:path>
            </a:pathLst>
          </a:custGeom>
          <a:solidFill>
            <a:srgbClr val="FF641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7886700" y="2606675"/>
            <a:ext cx="7200000" cy="7200000"/>
          </a:xfrm>
          <a:prstGeom prst="ellipse">
            <a:avLst/>
          </a:prstGeom>
          <a:solidFill>
            <a:srgbClr val="1F73EF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317365" y="4263390"/>
            <a:ext cx="8096250" cy="4892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solidFill>
                  <a:srgbClr val="FFC000"/>
                </a:solidFill>
                <a:latin typeface="楷体" panose="02010609060101010101" charset="-122"/>
                <a:ea typeface="楷体" panose="02010609060101010101" charset="-122"/>
              </a:rPr>
              <a:t>玉环美食的发展现状</a:t>
            </a:r>
            <a:endParaRPr lang="zh-CN" altLang="en-US" sz="6600">
              <a:solidFill>
                <a:srgbClr val="FFC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61478" y="1325880"/>
            <a:ext cx="69151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2</a:t>
            </a:r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任意多边形 6"/>
          <p:cNvSpPr>
            <a:spLocks noChangeAspect="1"/>
          </p:cNvSpPr>
          <p:nvPr/>
        </p:nvSpPr>
        <p:spPr>
          <a:xfrm rot="10800000">
            <a:off x="-2193308" y="-2140379"/>
            <a:ext cx="5335265" cy="5338628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402" h="8407">
                <a:moveTo>
                  <a:pt x="6222" y="4864"/>
                </a:moveTo>
                <a:lnTo>
                  <a:pt x="8402" y="4864"/>
                </a:lnTo>
                <a:lnTo>
                  <a:pt x="8396" y="4904"/>
                </a:lnTo>
                <a:cubicBezTo>
                  <a:pt x="8097" y="6709"/>
                  <a:pt x="6661" y="8130"/>
                  <a:pt x="4849" y="8407"/>
                </a:cubicBezTo>
                <a:lnTo>
                  <a:pt x="4844" y="8407"/>
                </a:lnTo>
                <a:lnTo>
                  <a:pt x="4844" y="6231"/>
                </a:lnTo>
                <a:lnTo>
                  <a:pt x="4883" y="6218"/>
                </a:lnTo>
                <a:cubicBezTo>
                  <a:pt x="5509" y="6006"/>
                  <a:pt x="6004" y="5511"/>
                  <a:pt x="6215" y="4886"/>
                </a:cubicBezTo>
                <a:lnTo>
                  <a:pt x="6222" y="4864"/>
                </a:lnTo>
                <a:close/>
                <a:moveTo>
                  <a:pt x="0" y="4864"/>
                </a:moveTo>
                <a:lnTo>
                  <a:pt x="2180" y="4864"/>
                </a:lnTo>
                <a:lnTo>
                  <a:pt x="2187" y="4886"/>
                </a:lnTo>
                <a:cubicBezTo>
                  <a:pt x="2398" y="5511"/>
                  <a:pt x="2893" y="6006"/>
                  <a:pt x="3519" y="6218"/>
                </a:cubicBezTo>
                <a:lnTo>
                  <a:pt x="3558" y="6231"/>
                </a:lnTo>
                <a:lnTo>
                  <a:pt x="3558" y="8407"/>
                </a:lnTo>
                <a:lnTo>
                  <a:pt x="3553" y="8407"/>
                </a:lnTo>
                <a:cubicBezTo>
                  <a:pt x="1741" y="8130"/>
                  <a:pt x="305" y="6709"/>
                  <a:pt x="6" y="4904"/>
                </a:cubicBezTo>
                <a:lnTo>
                  <a:pt x="0" y="4864"/>
                </a:lnTo>
                <a:close/>
                <a:moveTo>
                  <a:pt x="4844" y="0"/>
                </a:moveTo>
                <a:lnTo>
                  <a:pt x="4849" y="1"/>
                </a:lnTo>
                <a:cubicBezTo>
                  <a:pt x="6661" y="278"/>
                  <a:pt x="8097" y="1699"/>
                  <a:pt x="8396" y="3503"/>
                </a:cubicBezTo>
                <a:lnTo>
                  <a:pt x="8402" y="3544"/>
                </a:lnTo>
                <a:lnTo>
                  <a:pt x="6222" y="3544"/>
                </a:lnTo>
                <a:lnTo>
                  <a:pt x="6215" y="3522"/>
                </a:lnTo>
                <a:cubicBezTo>
                  <a:pt x="6004" y="2896"/>
                  <a:pt x="5509" y="2401"/>
                  <a:pt x="4883" y="2189"/>
                </a:cubicBezTo>
                <a:lnTo>
                  <a:pt x="4844" y="2177"/>
                </a:lnTo>
                <a:lnTo>
                  <a:pt x="4844" y="0"/>
                </a:lnTo>
                <a:close/>
                <a:moveTo>
                  <a:pt x="3558" y="0"/>
                </a:moveTo>
                <a:lnTo>
                  <a:pt x="3558" y="2177"/>
                </a:lnTo>
                <a:lnTo>
                  <a:pt x="3519" y="2189"/>
                </a:lnTo>
                <a:cubicBezTo>
                  <a:pt x="2893" y="2401"/>
                  <a:pt x="2398" y="2896"/>
                  <a:pt x="2187" y="3522"/>
                </a:cubicBezTo>
                <a:lnTo>
                  <a:pt x="2180" y="3544"/>
                </a:lnTo>
                <a:lnTo>
                  <a:pt x="0" y="3544"/>
                </a:lnTo>
                <a:lnTo>
                  <a:pt x="6" y="3503"/>
                </a:lnTo>
                <a:cubicBezTo>
                  <a:pt x="305" y="1699"/>
                  <a:pt x="1741" y="278"/>
                  <a:pt x="3553" y="1"/>
                </a:cubicBezTo>
                <a:lnTo>
                  <a:pt x="3558" y="0"/>
                </a:lnTo>
                <a:close/>
              </a:path>
            </a:pathLst>
          </a:custGeom>
          <a:solidFill>
            <a:srgbClr val="FF641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7886700" y="2606675"/>
            <a:ext cx="7200000" cy="7200000"/>
          </a:xfrm>
          <a:prstGeom prst="ellipse">
            <a:avLst/>
          </a:prstGeom>
          <a:solidFill>
            <a:srgbClr val="1F73EF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141980" y="-179070"/>
            <a:ext cx="8096250" cy="4892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solidFill>
                  <a:srgbClr val="FFC000"/>
                </a:solidFill>
                <a:latin typeface="楷体" panose="02010609060101010101" charset="-122"/>
                <a:ea typeface="楷体" panose="02010609060101010101" charset="-122"/>
              </a:rPr>
              <a:t>玉环美食的发展现状</a:t>
            </a:r>
            <a:endParaRPr lang="zh-CN" altLang="en-US" sz="6600">
              <a:solidFill>
                <a:srgbClr val="FFC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61478" y="1325880"/>
            <a:ext cx="69151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2</a:t>
            </a:r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19150" y="3429000"/>
            <a:ext cx="7724140" cy="300799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3600">
                <a:latin typeface="Arial" panose="020B0604020202020204" pitchFamily="34" charset="0"/>
                <a:ea typeface="微软雅黑" panose="020B0503020204020204" charset="-122"/>
              </a:rPr>
              <a:t>玉环美食底蕴深厚，</a:t>
            </a:r>
            <a:r>
              <a:rPr lang="zh-CN" altLang="en-US" sz="3600">
                <a:latin typeface="Arial" panose="020B0604020202020204" pitchFamily="34" charset="0"/>
                <a:ea typeface="微软雅黑" panose="020B0503020204020204" charset="-122"/>
              </a:rPr>
              <a:t>近年来在品牌打造、政策扶持上确有推进，但从“有特色”到“有产业”、从“地方名吃”到“全国品牌”，中间还有明显的断层。以下从几个维度呈现其发展现状中“亟待突破”的一面。</a:t>
            </a:r>
            <a:endParaRPr lang="zh-CN" altLang="en-US" sz="36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36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任意多边形 6"/>
          <p:cNvSpPr>
            <a:spLocks noChangeAspect="1"/>
          </p:cNvSpPr>
          <p:nvPr/>
        </p:nvSpPr>
        <p:spPr>
          <a:xfrm rot="10800000">
            <a:off x="-2193308" y="-2140379"/>
            <a:ext cx="5335265" cy="5338628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402" h="8407">
                <a:moveTo>
                  <a:pt x="6222" y="4864"/>
                </a:moveTo>
                <a:lnTo>
                  <a:pt x="8402" y="4864"/>
                </a:lnTo>
                <a:lnTo>
                  <a:pt x="8396" y="4904"/>
                </a:lnTo>
                <a:cubicBezTo>
                  <a:pt x="8097" y="6709"/>
                  <a:pt x="6661" y="8130"/>
                  <a:pt x="4849" y="8407"/>
                </a:cubicBezTo>
                <a:lnTo>
                  <a:pt x="4844" y="8407"/>
                </a:lnTo>
                <a:lnTo>
                  <a:pt x="4844" y="6231"/>
                </a:lnTo>
                <a:lnTo>
                  <a:pt x="4883" y="6218"/>
                </a:lnTo>
                <a:cubicBezTo>
                  <a:pt x="5509" y="6006"/>
                  <a:pt x="6004" y="5511"/>
                  <a:pt x="6215" y="4886"/>
                </a:cubicBezTo>
                <a:lnTo>
                  <a:pt x="6222" y="4864"/>
                </a:lnTo>
                <a:close/>
                <a:moveTo>
                  <a:pt x="0" y="4864"/>
                </a:moveTo>
                <a:lnTo>
                  <a:pt x="2180" y="4864"/>
                </a:lnTo>
                <a:lnTo>
                  <a:pt x="2187" y="4886"/>
                </a:lnTo>
                <a:cubicBezTo>
                  <a:pt x="2398" y="5511"/>
                  <a:pt x="2893" y="6006"/>
                  <a:pt x="3519" y="6218"/>
                </a:cubicBezTo>
                <a:lnTo>
                  <a:pt x="3558" y="6231"/>
                </a:lnTo>
                <a:lnTo>
                  <a:pt x="3558" y="8407"/>
                </a:lnTo>
                <a:lnTo>
                  <a:pt x="3553" y="8407"/>
                </a:lnTo>
                <a:cubicBezTo>
                  <a:pt x="1741" y="8130"/>
                  <a:pt x="305" y="6709"/>
                  <a:pt x="6" y="4904"/>
                </a:cubicBezTo>
                <a:lnTo>
                  <a:pt x="0" y="4864"/>
                </a:lnTo>
                <a:close/>
                <a:moveTo>
                  <a:pt x="4844" y="0"/>
                </a:moveTo>
                <a:lnTo>
                  <a:pt x="4849" y="1"/>
                </a:lnTo>
                <a:cubicBezTo>
                  <a:pt x="6661" y="278"/>
                  <a:pt x="8097" y="1699"/>
                  <a:pt x="8396" y="3503"/>
                </a:cubicBezTo>
                <a:lnTo>
                  <a:pt x="8402" y="3544"/>
                </a:lnTo>
                <a:lnTo>
                  <a:pt x="6222" y="3544"/>
                </a:lnTo>
                <a:lnTo>
                  <a:pt x="6215" y="3522"/>
                </a:lnTo>
                <a:cubicBezTo>
                  <a:pt x="6004" y="2896"/>
                  <a:pt x="5509" y="2401"/>
                  <a:pt x="4883" y="2189"/>
                </a:cubicBezTo>
                <a:lnTo>
                  <a:pt x="4844" y="2177"/>
                </a:lnTo>
                <a:lnTo>
                  <a:pt x="4844" y="0"/>
                </a:lnTo>
                <a:close/>
                <a:moveTo>
                  <a:pt x="3558" y="0"/>
                </a:moveTo>
                <a:lnTo>
                  <a:pt x="3558" y="2177"/>
                </a:lnTo>
                <a:lnTo>
                  <a:pt x="3519" y="2189"/>
                </a:lnTo>
                <a:cubicBezTo>
                  <a:pt x="2893" y="2401"/>
                  <a:pt x="2398" y="2896"/>
                  <a:pt x="2187" y="3522"/>
                </a:cubicBezTo>
                <a:lnTo>
                  <a:pt x="2180" y="3544"/>
                </a:lnTo>
                <a:lnTo>
                  <a:pt x="0" y="3544"/>
                </a:lnTo>
                <a:lnTo>
                  <a:pt x="6" y="3503"/>
                </a:lnTo>
                <a:cubicBezTo>
                  <a:pt x="305" y="1699"/>
                  <a:pt x="1741" y="278"/>
                  <a:pt x="3553" y="1"/>
                </a:cubicBezTo>
                <a:lnTo>
                  <a:pt x="3558" y="0"/>
                </a:lnTo>
                <a:close/>
              </a:path>
            </a:pathLst>
          </a:custGeom>
          <a:solidFill>
            <a:srgbClr val="FF641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7886700" y="2606675"/>
            <a:ext cx="7200000" cy="7200000"/>
          </a:xfrm>
          <a:prstGeom prst="ellipse">
            <a:avLst/>
          </a:prstGeom>
          <a:solidFill>
            <a:srgbClr val="1F73EF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141980" y="-179070"/>
            <a:ext cx="8096250" cy="4892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solidFill>
                  <a:srgbClr val="FFC000"/>
                </a:solidFill>
                <a:latin typeface="楷体" panose="02010609060101010101" charset="-122"/>
                <a:ea typeface="楷体" panose="02010609060101010101" charset="-122"/>
              </a:rPr>
              <a:t>玉环美食的发展现状</a:t>
            </a:r>
            <a:endParaRPr lang="zh-CN" altLang="en-US" sz="6600">
              <a:solidFill>
                <a:srgbClr val="FFC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61478" y="1325880"/>
            <a:ext cx="69151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2</a:t>
            </a:r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99790" y="1325245"/>
            <a:ext cx="8551545" cy="533844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80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charset="-122"/>
              </a:rPr>
              <a:t>产业形态：有市场热度，缺产业厚度</a:t>
            </a:r>
            <a:endParaRPr lang="zh-CN" altLang="en-US" sz="2800">
              <a:highlight>
                <a:srgbClr val="FFFF00"/>
              </a:highlight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2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玉环不少特色小吃已显现出可观的市场需求，但产业组织方式仍停留在“前店后坊”的初级阶段。以海鲜粽为例，据流量分析本地市场规模或超千万元，但产业“仍以餐饮店及私房制作为主”。2025年一场海鲜粽非遗市集三天吸引超5000人次、市集交易额5.2万元，线上直播观看达11.3万人次，需求端的火爆与供给端的作坊式生产形成鲜明反差——“心福传承”手工坊首次直播即售出900多只粽子，负责人却“根本来不及制作”。这种“有订单、无产能”的困境，正是产业厚度不足的直接体现。</a:t>
            </a:r>
            <a:endParaRPr lang="zh-CN" altLang="en-US" sz="2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任意多边形 6"/>
          <p:cNvSpPr>
            <a:spLocks noChangeAspect="1"/>
          </p:cNvSpPr>
          <p:nvPr/>
        </p:nvSpPr>
        <p:spPr>
          <a:xfrm rot="10800000">
            <a:off x="-2193308" y="-2140379"/>
            <a:ext cx="5335265" cy="5338628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402" h="8407">
                <a:moveTo>
                  <a:pt x="6222" y="4864"/>
                </a:moveTo>
                <a:lnTo>
                  <a:pt x="8402" y="4864"/>
                </a:lnTo>
                <a:lnTo>
                  <a:pt x="8396" y="4904"/>
                </a:lnTo>
                <a:cubicBezTo>
                  <a:pt x="8097" y="6709"/>
                  <a:pt x="6661" y="8130"/>
                  <a:pt x="4849" y="8407"/>
                </a:cubicBezTo>
                <a:lnTo>
                  <a:pt x="4844" y="8407"/>
                </a:lnTo>
                <a:lnTo>
                  <a:pt x="4844" y="6231"/>
                </a:lnTo>
                <a:lnTo>
                  <a:pt x="4883" y="6218"/>
                </a:lnTo>
                <a:cubicBezTo>
                  <a:pt x="5509" y="6006"/>
                  <a:pt x="6004" y="5511"/>
                  <a:pt x="6215" y="4886"/>
                </a:cubicBezTo>
                <a:lnTo>
                  <a:pt x="6222" y="4864"/>
                </a:lnTo>
                <a:close/>
                <a:moveTo>
                  <a:pt x="0" y="4864"/>
                </a:moveTo>
                <a:lnTo>
                  <a:pt x="2180" y="4864"/>
                </a:lnTo>
                <a:lnTo>
                  <a:pt x="2187" y="4886"/>
                </a:lnTo>
                <a:cubicBezTo>
                  <a:pt x="2398" y="5511"/>
                  <a:pt x="2893" y="6006"/>
                  <a:pt x="3519" y="6218"/>
                </a:cubicBezTo>
                <a:lnTo>
                  <a:pt x="3558" y="6231"/>
                </a:lnTo>
                <a:lnTo>
                  <a:pt x="3558" y="8407"/>
                </a:lnTo>
                <a:lnTo>
                  <a:pt x="3553" y="8407"/>
                </a:lnTo>
                <a:cubicBezTo>
                  <a:pt x="1741" y="8130"/>
                  <a:pt x="305" y="6709"/>
                  <a:pt x="6" y="4904"/>
                </a:cubicBezTo>
                <a:lnTo>
                  <a:pt x="0" y="4864"/>
                </a:lnTo>
                <a:close/>
                <a:moveTo>
                  <a:pt x="4844" y="0"/>
                </a:moveTo>
                <a:lnTo>
                  <a:pt x="4849" y="1"/>
                </a:lnTo>
                <a:cubicBezTo>
                  <a:pt x="6661" y="278"/>
                  <a:pt x="8097" y="1699"/>
                  <a:pt x="8396" y="3503"/>
                </a:cubicBezTo>
                <a:lnTo>
                  <a:pt x="8402" y="3544"/>
                </a:lnTo>
                <a:lnTo>
                  <a:pt x="6222" y="3544"/>
                </a:lnTo>
                <a:lnTo>
                  <a:pt x="6215" y="3522"/>
                </a:lnTo>
                <a:cubicBezTo>
                  <a:pt x="6004" y="2896"/>
                  <a:pt x="5509" y="2401"/>
                  <a:pt x="4883" y="2189"/>
                </a:cubicBezTo>
                <a:lnTo>
                  <a:pt x="4844" y="2177"/>
                </a:lnTo>
                <a:lnTo>
                  <a:pt x="4844" y="0"/>
                </a:lnTo>
                <a:close/>
                <a:moveTo>
                  <a:pt x="3558" y="0"/>
                </a:moveTo>
                <a:lnTo>
                  <a:pt x="3558" y="2177"/>
                </a:lnTo>
                <a:lnTo>
                  <a:pt x="3519" y="2189"/>
                </a:lnTo>
                <a:cubicBezTo>
                  <a:pt x="2893" y="2401"/>
                  <a:pt x="2398" y="2896"/>
                  <a:pt x="2187" y="3522"/>
                </a:cubicBezTo>
                <a:lnTo>
                  <a:pt x="2180" y="3544"/>
                </a:lnTo>
                <a:lnTo>
                  <a:pt x="0" y="3544"/>
                </a:lnTo>
                <a:lnTo>
                  <a:pt x="6" y="3503"/>
                </a:lnTo>
                <a:cubicBezTo>
                  <a:pt x="305" y="1699"/>
                  <a:pt x="1741" y="278"/>
                  <a:pt x="3553" y="1"/>
                </a:cubicBezTo>
                <a:lnTo>
                  <a:pt x="3558" y="0"/>
                </a:lnTo>
                <a:close/>
              </a:path>
            </a:pathLst>
          </a:custGeom>
          <a:solidFill>
            <a:srgbClr val="FF641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7886700" y="2606675"/>
            <a:ext cx="7200000" cy="7200000"/>
          </a:xfrm>
          <a:prstGeom prst="ellipse">
            <a:avLst/>
          </a:prstGeom>
          <a:solidFill>
            <a:srgbClr val="1F73EF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141980" y="-179070"/>
            <a:ext cx="8096250" cy="4892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solidFill>
                  <a:srgbClr val="FFC000"/>
                </a:solidFill>
                <a:latin typeface="楷体" panose="02010609060101010101" charset="-122"/>
                <a:ea typeface="楷体" panose="02010609060101010101" charset="-122"/>
              </a:rPr>
              <a:t>玉环美食的发展现状</a:t>
            </a:r>
            <a:endParaRPr lang="zh-CN" altLang="en-US" sz="6600">
              <a:solidFill>
                <a:srgbClr val="FFC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61478" y="1325880"/>
            <a:ext cx="69151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2</a:t>
            </a:r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99790" y="1325245"/>
            <a:ext cx="8551545" cy="533844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80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charset="-122"/>
              </a:rPr>
              <a:t>技艺传承：非遗光环下的人才断层</a:t>
            </a:r>
            <a:endParaRPr lang="zh-CN" altLang="en-US" sz="2800">
              <a:highlight>
                <a:srgbClr val="FFFF00"/>
              </a:highlight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2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敲鱼面、鱼皮馄饨等核心技艺虽已列入非遗名录，但传承链条极为脆弱。多方记述一致指向同一个现实：“现在的年轻人很少会做敲鱼面了”。更严峻的是，劣质产品正在侵蚀正宗技艺的生存空间——有从业者反映，市场上出现“用冷冻陈鱼代替鲜鱼”“大量添加淀粉减少鱼肉比例”“滥用添加剂改善口感”等做法，导致“劣币驱逐良币，正宗鱼面渐渐被劣质产品淹没”，一度让玉环敲鱼面的口碑下滑，甚至被误解为“廉价乏味的普通干货”。非遗代表性传承人陈红花二十余年的坚守固然珍贵，但一个产业的传承不能只靠个别人的情怀。</a:t>
            </a:r>
            <a:endParaRPr lang="zh-CN" altLang="en-US" sz="2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任意多边形 6"/>
          <p:cNvSpPr>
            <a:spLocks noChangeAspect="1"/>
          </p:cNvSpPr>
          <p:nvPr/>
        </p:nvSpPr>
        <p:spPr>
          <a:xfrm rot="10800000">
            <a:off x="-2193308" y="-2140379"/>
            <a:ext cx="5335265" cy="5338628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402" h="8407">
                <a:moveTo>
                  <a:pt x="6222" y="4864"/>
                </a:moveTo>
                <a:lnTo>
                  <a:pt x="8402" y="4864"/>
                </a:lnTo>
                <a:lnTo>
                  <a:pt x="8396" y="4904"/>
                </a:lnTo>
                <a:cubicBezTo>
                  <a:pt x="8097" y="6709"/>
                  <a:pt x="6661" y="8130"/>
                  <a:pt x="4849" y="8407"/>
                </a:cubicBezTo>
                <a:lnTo>
                  <a:pt x="4844" y="8407"/>
                </a:lnTo>
                <a:lnTo>
                  <a:pt x="4844" y="6231"/>
                </a:lnTo>
                <a:lnTo>
                  <a:pt x="4883" y="6218"/>
                </a:lnTo>
                <a:cubicBezTo>
                  <a:pt x="5509" y="6006"/>
                  <a:pt x="6004" y="5511"/>
                  <a:pt x="6215" y="4886"/>
                </a:cubicBezTo>
                <a:lnTo>
                  <a:pt x="6222" y="4864"/>
                </a:lnTo>
                <a:close/>
                <a:moveTo>
                  <a:pt x="0" y="4864"/>
                </a:moveTo>
                <a:lnTo>
                  <a:pt x="2180" y="4864"/>
                </a:lnTo>
                <a:lnTo>
                  <a:pt x="2187" y="4886"/>
                </a:lnTo>
                <a:cubicBezTo>
                  <a:pt x="2398" y="5511"/>
                  <a:pt x="2893" y="6006"/>
                  <a:pt x="3519" y="6218"/>
                </a:cubicBezTo>
                <a:lnTo>
                  <a:pt x="3558" y="6231"/>
                </a:lnTo>
                <a:lnTo>
                  <a:pt x="3558" y="8407"/>
                </a:lnTo>
                <a:lnTo>
                  <a:pt x="3553" y="8407"/>
                </a:lnTo>
                <a:cubicBezTo>
                  <a:pt x="1741" y="8130"/>
                  <a:pt x="305" y="6709"/>
                  <a:pt x="6" y="4904"/>
                </a:cubicBezTo>
                <a:lnTo>
                  <a:pt x="0" y="4864"/>
                </a:lnTo>
                <a:close/>
                <a:moveTo>
                  <a:pt x="4844" y="0"/>
                </a:moveTo>
                <a:lnTo>
                  <a:pt x="4849" y="1"/>
                </a:lnTo>
                <a:cubicBezTo>
                  <a:pt x="6661" y="278"/>
                  <a:pt x="8097" y="1699"/>
                  <a:pt x="8396" y="3503"/>
                </a:cubicBezTo>
                <a:lnTo>
                  <a:pt x="8402" y="3544"/>
                </a:lnTo>
                <a:lnTo>
                  <a:pt x="6222" y="3544"/>
                </a:lnTo>
                <a:lnTo>
                  <a:pt x="6215" y="3522"/>
                </a:lnTo>
                <a:cubicBezTo>
                  <a:pt x="6004" y="2896"/>
                  <a:pt x="5509" y="2401"/>
                  <a:pt x="4883" y="2189"/>
                </a:cubicBezTo>
                <a:lnTo>
                  <a:pt x="4844" y="2177"/>
                </a:lnTo>
                <a:lnTo>
                  <a:pt x="4844" y="0"/>
                </a:lnTo>
                <a:close/>
                <a:moveTo>
                  <a:pt x="3558" y="0"/>
                </a:moveTo>
                <a:lnTo>
                  <a:pt x="3558" y="2177"/>
                </a:lnTo>
                <a:lnTo>
                  <a:pt x="3519" y="2189"/>
                </a:lnTo>
                <a:cubicBezTo>
                  <a:pt x="2893" y="2401"/>
                  <a:pt x="2398" y="2896"/>
                  <a:pt x="2187" y="3522"/>
                </a:cubicBezTo>
                <a:lnTo>
                  <a:pt x="2180" y="3544"/>
                </a:lnTo>
                <a:lnTo>
                  <a:pt x="0" y="3544"/>
                </a:lnTo>
                <a:lnTo>
                  <a:pt x="6" y="3503"/>
                </a:lnTo>
                <a:cubicBezTo>
                  <a:pt x="305" y="1699"/>
                  <a:pt x="1741" y="278"/>
                  <a:pt x="3553" y="1"/>
                </a:cubicBezTo>
                <a:lnTo>
                  <a:pt x="3558" y="0"/>
                </a:lnTo>
                <a:close/>
              </a:path>
            </a:pathLst>
          </a:custGeom>
          <a:solidFill>
            <a:srgbClr val="FF641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7886700" y="2606675"/>
            <a:ext cx="7200000" cy="7200000"/>
          </a:xfrm>
          <a:prstGeom prst="ellipse">
            <a:avLst/>
          </a:prstGeom>
          <a:solidFill>
            <a:srgbClr val="1F73EF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141980" y="-179070"/>
            <a:ext cx="8096250" cy="4892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solidFill>
                  <a:srgbClr val="FFC000"/>
                </a:solidFill>
                <a:latin typeface="楷体" panose="02010609060101010101" charset="-122"/>
                <a:ea typeface="楷体" panose="02010609060101010101" charset="-122"/>
              </a:rPr>
              <a:t>玉环美食的发展现状</a:t>
            </a:r>
            <a:endParaRPr lang="zh-CN" altLang="en-US" sz="6600">
              <a:solidFill>
                <a:srgbClr val="FFC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61478" y="1325880"/>
            <a:ext cx="691515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2</a:t>
            </a:r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41980" y="760095"/>
            <a:ext cx="8551545" cy="533844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80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charset="-122"/>
              </a:rPr>
              <a:t>品牌与文旅：有“金名片”之名，缺“金链条”之实</a:t>
            </a:r>
            <a:endParaRPr lang="zh-CN" altLang="en-US" sz="2800">
              <a:highlight>
                <a:srgbClr val="FFFF00"/>
              </a:highlight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2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2800">
                <a:latin typeface="Arial" panose="020B0604020202020204" pitchFamily="34" charset="0"/>
                <a:ea typeface="微软雅黑" panose="020B0503020204020204" charset="-122"/>
              </a:rPr>
              <a:t>“台州菜·玉海宴”品牌已启动“九个一”推广工程，包括构建标准菜品体系、培育认证门店、举办美食节庆等。但品牌落地的深度仍显不足。玉环市政协委员在调研中指出，本土特色文旅元素“植入不足”、旅游引流渠道“单一”、宾馆与海岛游及台州1号公路沿线文旅线路“联动不够紧密”。换言之，玉环美食在文旅场景中的存在感，更多停留在“路过吃一顿”，而非“为一道菜赴一座城”。有分析更尖锐地指出，玉环“主题文化缺失，不论是海洋文化，还是移民文化、台胞文化等都没有得到有效彰显”。美食品牌若没有文化叙事的支撑，很难从“地方风味”升级为“目的地吸引力”。</a:t>
            </a:r>
            <a:endParaRPr lang="zh-CN" altLang="en-US" sz="2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任意多边形 6"/>
          <p:cNvSpPr>
            <a:spLocks noChangeAspect="1"/>
          </p:cNvSpPr>
          <p:nvPr/>
        </p:nvSpPr>
        <p:spPr>
          <a:xfrm>
            <a:off x="-2223153" y="3429206"/>
            <a:ext cx="5335265" cy="5338628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402" h="8407">
                <a:moveTo>
                  <a:pt x="6222" y="4864"/>
                </a:moveTo>
                <a:lnTo>
                  <a:pt x="8402" y="4864"/>
                </a:lnTo>
                <a:lnTo>
                  <a:pt x="8396" y="4904"/>
                </a:lnTo>
                <a:cubicBezTo>
                  <a:pt x="8097" y="6709"/>
                  <a:pt x="6661" y="8130"/>
                  <a:pt x="4849" y="8407"/>
                </a:cubicBezTo>
                <a:lnTo>
                  <a:pt x="4844" y="8407"/>
                </a:lnTo>
                <a:lnTo>
                  <a:pt x="4844" y="6231"/>
                </a:lnTo>
                <a:lnTo>
                  <a:pt x="4883" y="6218"/>
                </a:lnTo>
                <a:cubicBezTo>
                  <a:pt x="5509" y="6006"/>
                  <a:pt x="6004" y="5511"/>
                  <a:pt x="6215" y="4886"/>
                </a:cubicBezTo>
                <a:lnTo>
                  <a:pt x="6222" y="4864"/>
                </a:lnTo>
                <a:close/>
                <a:moveTo>
                  <a:pt x="0" y="4864"/>
                </a:moveTo>
                <a:lnTo>
                  <a:pt x="2180" y="4864"/>
                </a:lnTo>
                <a:lnTo>
                  <a:pt x="2187" y="4886"/>
                </a:lnTo>
                <a:cubicBezTo>
                  <a:pt x="2398" y="5511"/>
                  <a:pt x="2893" y="6006"/>
                  <a:pt x="3519" y="6218"/>
                </a:cubicBezTo>
                <a:lnTo>
                  <a:pt x="3558" y="6231"/>
                </a:lnTo>
                <a:lnTo>
                  <a:pt x="3558" y="8407"/>
                </a:lnTo>
                <a:lnTo>
                  <a:pt x="3553" y="8407"/>
                </a:lnTo>
                <a:cubicBezTo>
                  <a:pt x="1741" y="8130"/>
                  <a:pt x="305" y="6709"/>
                  <a:pt x="6" y="4904"/>
                </a:cubicBezTo>
                <a:lnTo>
                  <a:pt x="0" y="4864"/>
                </a:lnTo>
                <a:close/>
                <a:moveTo>
                  <a:pt x="4844" y="0"/>
                </a:moveTo>
                <a:lnTo>
                  <a:pt x="4849" y="1"/>
                </a:lnTo>
                <a:cubicBezTo>
                  <a:pt x="6661" y="278"/>
                  <a:pt x="8097" y="1699"/>
                  <a:pt x="8396" y="3503"/>
                </a:cubicBezTo>
                <a:lnTo>
                  <a:pt x="8402" y="3544"/>
                </a:lnTo>
                <a:lnTo>
                  <a:pt x="6222" y="3544"/>
                </a:lnTo>
                <a:lnTo>
                  <a:pt x="6215" y="3522"/>
                </a:lnTo>
                <a:cubicBezTo>
                  <a:pt x="6004" y="2896"/>
                  <a:pt x="5509" y="2401"/>
                  <a:pt x="4883" y="2189"/>
                </a:cubicBezTo>
                <a:lnTo>
                  <a:pt x="4844" y="2177"/>
                </a:lnTo>
                <a:lnTo>
                  <a:pt x="4844" y="0"/>
                </a:lnTo>
                <a:close/>
                <a:moveTo>
                  <a:pt x="3558" y="0"/>
                </a:moveTo>
                <a:lnTo>
                  <a:pt x="3558" y="2177"/>
                </a:lnTo>
                <a:lnTo>
                  <a:pt x="3519" y="2189"/>
                </a:lnTo>
                <a:cubicBezTo>
                  <a:pt x="2893" y="2401"/>
                  <a:pt x="2398" y="2896"/>
                  <a:pt x="2187" y="3522"/>
                </a:cubicBezTo>
                <a:lnTo>
                  <a:pt x="2180" y="3544"/>
                </a:lnTo>
                <a:lnTo>
                  <a:pt x="0" y="3544"/>
                </a:lnTo>
                <a:lnTo>
                  <a:pt x="6" y="3503"/>
                </a:lnTo>
                <a:cubicBezTo>
                  <a:pt x="305" y="1699"/>
                  <a:pt x="1741" y="278"/>
                  <a:pt x="3553" y="1"/>
                </a:cubicBezTo>
                <a:lnTo>
                  <a:pt x="3558" y="0"/>
                </a:lnTo>
                <a:close/>
              </a:path>
            </a:pathLst>
          </a:custGeom>
          <a:solidFill>
            <a:srgbClr val="FF641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7529195" y="-2632075"/>
            <a:ext cx="7200000" cy="7200000"/>
          </a:xfrm>
          <a:prstGeom prst="ellipse">
            <a:avLst/>
          </a:prstGeom>
          <a:solidFill>
            <a:srgbClr val="1F73EF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645025" y="661670"/>
            <a:ext cx="8096250" cy="4892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solidFill>
                  <a:srgbClr val="FFC000"/>
                </a:solidFill>
                <a:latin typeface="楷体" panose="02010609060101010101" charset="-122"/>
                <a:ea typeface="楷体" panose="02010609060101010101" charset="-122"/>
              </a:rPr>
              <a:t>发展空间与未来规划</a:t>
            </a:r>
            <a:endParaRPr lang="zh-CN" altLang="en-US" sz="6600">
              <a:solidFill>
                <a:srgbClr val="FFC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61478" y="4263390"/>
            <a:ext cx="691515" cy="23069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3</a:t>
            </a:r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  <a:p>
            <a:pPr algn="ctr"/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02485" y="1350645"/>
            <a:ext cx="9371330" cy="4617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>
                <a:highlight>
                  <a:srgbClr val="FFFF00"/>
                </a:highlight>
              </a:rPr>
              <a:t>产业形态</a:t>
            </a:r>
            <a:endParaRPr lang="zh-CN" altLang="en-US" sz="3600">
              <a:highlight>
                <a:srgbClr val="FFFF00"/>
              </a:highlight>
            </a:endParaRPr>
          </a:p>
          <a:p>
            <a:endParaRPr lang="en-US" altLang="zh-CN" sz="3600"/>
          </a:p>
          <a:p>
            <a:r>
              <a:rPr lang="zh-CN" altLang="en-US" sz="3600"/>
              <a:t>玉环美食仍以作坊为主，产能与标准不足。未来可依托国际农博城中央厨房、大麦屿冷链中心，推动海鲜粽等标准化生产，把“前店后坊”升级为链式集群。海鲜粽等品类需求旺盛，却常“有订单、无产能”。应推广“大企帮小店”：龙头负责品控品牌，渔嫂负责前端加工，形成分散生产、集中销售、统一溯源的协作网络。</a:t>
            </a:r>
            <a:endParaRPr lang="zh-CN" altLang="en-US" sz="3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任意多边形 6"/>
          <p:cNvSpPr>
            <a:spLocks noChangeAspect="1"/>
          </p:cNvSpPr>
          <p:nvPr/>
        </p:nvSpPr>
        <p:spPr>
          <a:xfrm>
            <a:off x="-2223153" y="3429206"/>
            <a:ext cx="5335265" cy="5338628"/>
          </a:xfrm>
          <a:custGeom>
            <a:avLst/>
            <a:gdLst>
              <a:gd name="adj" fmla="val 25000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8402" h="8407">
                <a:moveTo>
                  <a:pt x="6222" y="4864"/>
                </a:moveTo>
                <a:lnTo>
                  <a:pt x="8402" y="4864"/>
                </a:lnTo>
                <a:lnTo>
                  <a:pt x="8396" y="4904"/>
                </a:lnTo>
                <a:cubicBezTo>
                  <a:pt x="8097" y="6709"/>
                  <a:pt x="6661" y="8130"/>
                  <a:pt x="4849" y="8407"/>
                </a:cubicBezTo>
                <a:lnTo>
                  <a:pt x="4844" y="8407"/>
                </a:lnTo>
                <a:lnTo>
                  <a:pt x="4844" y="6231"/>
                </a:lnTo>
                <a:lnTo>
                  <a:pt x="4883" y="6218"/>
                </a:lnTo>
                <a:cubicBezTo>
                  <a:pt x="5509" y="6006"/>
                  <a:pt x="6004" y="5511"/>
                  <a:pt x="6215" y="4886"/>
                </a:cubicBezTo>
                <a:lnTo>
                  <a:pt x="6222" y="4864"/>
                </a:lnTo>
                <a:close/>
                <a:moveTo>
                  <a:pt x="0" y="4864"/>
                </a:moveTo>
                <a:lnTo>
                  <a:pt x="2180" y="4864"/>
                </a:lnTo>
                <a:lnTo>
                  <a:pt x="2187" y="4886"/>
                </a:lnTo>
                <a:cubicBezTo>
                  <a:pt x="2398" y="5511"/>
                  <a:pt x="2893" y="6006"/>
                  <a:pt x="3519" y="6218"/>
                </a:cubicBezTo>
                <a:lnTo>
                  <a:pt x="3558" y="6231"/>
                </a:lnTo>
                <a:lnTo>
                  <a:pt x="3558" y="8407"/>
                </a:lnTo>
                <a:lnTo>
                  <a:pt x="3553" y="8407"/>
                </a:lnTo>
                <a:cubicBezTo>
                  <a:pt x="1741" y="8130"/>
                  <a:pt x="305" y="6709"/>
                  <a:pt x="6" y="4904"/>
                </a:cubicBezTo>
                <a:lnTo>
                  <a:pt x="0" y="4864"/>
                </a:lnTo>
                <a:close/>
                <a:moveTo>
                  <a:pt x="4844" y="0"/>
                </a:moveTo>
                <a:lnTo>
                  <a:pt x="4849" y="1"/>
                </a:lnTo>
                <a:cubicBezTo>
                  <a:pt x="6661" y="278"/>
                  <a:pt x="8097" y="1699"/>
                  <a:pt x="8396" y="3503"/>
                </a:cubicBezTo>
                <a:lnTo>
                  <a:pt x="8402" y="3544"/>
                </a:lnTo>
                <a:lnTo>
                  <a:pt x="6222" y="3544"/>
                </a:lnTo>
                <a:lnTo>
                  <a:pt x="6215" y="3522"/>
                </a:lnTo>
                <a:cubicBezTo>
                  <a:pt x="6004" y="2896"/>
                  <a:pt x="5509" y="2401"/>
                  <a:pt x="4883" y="2189"/>
                </a:cubicBezTo>
                <a:lnTo>
                  <a:pt x="4844" y="2177"/>
                </a:lnTo>
                <a:lnTo>
                  <a:pt x="4844" y="0"/>
                </a:lnTo>
                <a:close/>
                <a:moveTo>
                  <a:pt x="3558" y="0"/>
                </a:moveTo>
                <a:lnTo>
                  <a:pt x="3558" y="2177"/>
                </a:lnTo>
                <a:lnTo>
                  <a:pt x="3519" y="2189"/>
                </a:lnTo>
                <a:cubicBezTo>
                  <a:pt x="2893" y="2401"/>
                  <a:pt x="2398" y="2896"/>
                  <a:pt x="2187" y="3522"/>
                </a:cubicBezTo>
                <a:lnTo>
                  <a:pt x="2180" y="3544"/>
                </a:lnTo>
                <a:lnTo>
                  <a:pt x="0" y="3544"/>
                </a:lnTo>
                <a:lnTo>
                  <a:pt x="6" y="3503"/>
                </a:lnTo>
                <a:cubicBezTo>
                  <a:pt x="305" y="1699"/>
                  <a:pt x="1741" y="278"/>
                  <a:pt x="3553" y="1"/>
                </a:cubicBezTo>
                <a:lnTo>
                  <a:pt x="3558" y="0"/>
                </a:lnTo>
                <a:close/>
              </a:path>
            </a:pathLst>
          </a:custGeom>
          <a:solidFill>
            <a:srgbClr val="FF641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椭圆 7"/>
          <p:cNvSpPr>
            <a:spLocks noChangeAspect="1"/>
          </p:cNvSpPr>
          <p:nvPr/>
        </p:nvSpPr>
        <p:spPr>
          <a:xfrm>
            <a:off x="7529195" y="-2632075"/>
            <a:ext cx="7200000" cy="7200000"/>
          </a:xfrm>
          <a:prstGeom prst="ellipse">
            <a:avLst/>
          </a:prstGeom>
          <a:solidFill>
            <a:srgbClr val="1F73EF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645025" y="661670"/>
            <a:ext cx="8096250" cy="4892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600">
                <a:solidFill>
                  <a:srgbClr val="FFC000"/>
                </a:solidFill>
                <a:latin typeface="楷体" panose="02010609060101010101" charset="-122"/>
                <a:ea typeface="楷体" panose="02010609060101010101" charset="-122"/>
              </a:rPr>
              <a:t>发展空间与未来规划</a:t>
            </a:r>
            <a:endParaRPr lang="zh-CN" altLang="en-US" sz="6600">
              <a:solidFill>
                <a:srgbClr val="FFC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61478" y="4263390"/>
            <a:ext cx="691515" cy="23069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3</a:t>
            </a:r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  <a:p>
            <a:pPr algn="ctr"/>
            <a:endParaRPr lang="en-US" altLang="zh-CN" sz="72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53310" y="1676400"/>
            <a:ext cx="9371330" cy="4617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>
                <a:highlight>
                  <a:srgbClr val="FFFF00"/>
                </a:highlight>
              </a:rPr>
              <a:t>技艺传承</a:t>
            </a:r>
            <a:endParaRPr lang="zh-CN" altLang="en-US" sz="3600">
              <a:highlight>
                <a:srgbClr val="FFFF00"/>
              </a:highlight>
            </a:endParaRPr>
          </a:p>
          <a:p>
            <a:endParaRPr lang="en-US" altLang="zh-CN" sz="3600"/>
          </a:p>
          <a:p>
            <a:r>
              <a:rPr lang="zh-CN" altLang="en-US" sz="3600"/>
              <a:t>核心技艺依赖少数传承人，年轻人断层明显。应落实非遗人才振兴计划，扩大师徒结对与补助，让传承人从“个人坚守”转向“制度性传承”，形成稳定职业前景。可建立敲鱼面等技艺数字标准库，记录配比、力度、时长；同时把非遗工坊升级为生产性工坊，在保留手工核心的同时适度机械化，解决产能瓶颈。</a:t>
            </a:r>
            <a:endParaRPr lang="zh-CN" altLang="en-US" sz="36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1752</Words>
  <Application>WPS 演示</Application>
  <PresentationFormat>宽屏</PresentationFormat>
  <Paragraphs>96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6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仿宋</vt:lpstr>
      <vt:lpstr>华文彩云</vt:lpstr>
      <vt:lpstr>华文新魏</vt:lpstr>
      <vt:lpstr>华文楷体</vt:lpstr>
      <vt:lpstr>华文细黑</vt:lpstr>
      <vt:lpstr>幼圆</vt:lpstr>
      <vt:lpstr>华文隶书</vt:lpstr>
      <vt:lpstr>新宋体</vt:lpstr>
      <vt:lpstr>微软雅黑 Light</vt:lpstr>
      <vt:lpstr>方正姚体</vt:lpstr>
      <vt:lpstr>方正舒体</vt:lpstr>
      <vt:lpstr>隶书</vt:lpstr>
      <vt:lpstr>黑体</vt:lpstr>
      <vt:lpstr>楷体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Administrator</cp:lastModifiedBy>
  <cp:revision>160</cp:revision>
  <dcterms:created xsi:type="dcterms:W3CDTF">2019-06-19T02:08:00Z</dcterms:created>
  <dcterms:modified xsi:type="dcterms:W3CDTF">2026-10-06T03:42:46Z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7F9149C87A9F48E8AE6C390CD838DEBD_13</vt:lpwstr>
  </property>
</Properties>
</file>