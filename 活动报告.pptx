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82" r:id="rId4"/>
    <p:sldId id="258" r:id="rId5"/>
    <p:sldId id="272" r:id="rId6"/>
    <p:sldId id="273" r:id="rId7"/>
    <p:sldId id="274" r:id="rId8"/>
    <p:sldId id="276" r:id="rId9"/>
    <p:sldId id="266" r:id="rId10"/>
    <p:sldId id="277" r:id="rId11"/>
    <p:sldId id="278" r:id="rId12"/>
    <p:sldId id="279" r:id="rId13"/>
    <p:sldId id="280" r:id="rId14"/>
    <p:sldId id="268" r:id="rId15"/>
    <p:sldId id="281" r:id="rId16"/>
    <p:sldId id="283" r:id="rId17"/>
    <p:sldId id="28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3CFD7"/>
    <a:srgbClr val="8FA6A6"/>
    <a:srgbClr val="E2E6ED"/>
    <a:srgbClr val="F5F1E8"/>
    <a:srgbClr val="C0DDE6"/>
    <a:srgbClr val="8EA37E"/>
    <a:srgbClr val="EDEEE7"/>
    <a:srgbClr val="D9D4E1"/>
    <a:srgbClr val="FF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5394325" y="2219960"/>
            <a:ext cx="5372735" cy="1365885"/>
          </a:xfrm>
          <a:prstGeom prst="rect">
            <a:avLst/>
          </a:prstGeom>
          <a:solidFill>
            <a:srgbClr val="B3CFD7"/>
          </a:solidFill>
          <a:ln w="60325" cap="rnd">
            <a:solidFill>
              <a:srgbClr val="C0DDE6"/>
            </a:solidFill>
            <a:round/>
          </a:ln>
          <a:effectLst>
            <a:outerShdw blurRad="393700" dir="10800000" sx="112000" sy="112000" algn="t" rotWithShape="0">
              <a:prstClr val="black">
                <a:alpha val="5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extrusionH="38100">
            <a:extrusionClr>
              <a:schemeClr val="bg1"/>
            </a:extrusionClr>
          </a:sp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549910" y="-46355"/>
            <a:ext cx="6127115" cy="6904355"/>
          </a:xfrm>
          <a:prstGeom prst="rect">
            <a:avLst/>
          </a:prstGeom>
          <a:gradFill>
            <a:gsLst>
              <a:gs pos="0">
                <a:schemeClr val="bg1">
                  <a:alpha val="82000"/>
                </a:schemeClr>
              </a:gs>
              <a:gs pos="27000">
                <a:srgbClr val="FBFCFE">
                  <a:alpha val="90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65655" y="899160"/>
            <a:ext cx="1649730" cy="489585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p>
            <a:pPr algn="ctr">
              <a:lnSpc>
                <a:spcPct val="80000"/>
              </a:lnSpc>
            </a:pPr>
            <a:r>
              <a:rPr lang="zh-CN" altLang="en-US" sz="9600" b="1">
                <a:ln w="6600">
                  <a:noFill/>
                  <a:prstDash val="solid"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玉环美食</a:t>
            </a:r>
            <a:endParaRPr lang="zh-CN" altLang="en-US" sz="9600" b="1">
              <a:ln w="6600">
                <a:noFill/>
                <a:prstDash val="solid"/>
              </a:ln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4325" y="2219960"/>
            <a:ext cx="5372735" cy="136525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noAutofit/>
          </a:bodyPr>
          <a:p>
            <a:r>
              <a:rPr lang="zh-CN" altLang="en-US" sz="4400">
                <a:ln w="22225">
                  <a:noFill/>
                </a:ln>
                <a:latin typeface="楷体" panose="02010609060101010101" charset="-122"/>
                <a:ea typeface="楷体" panose="02010609060101010101" charset="-122"/>
              </a:rPr>
              <a:t>关与玉环美食现状与</a:t>
            </a:r>
            <a:endParaRPr lang="zh-CN" altLang="en-US" sz="4400">
              <a:ln w="22225">
                <a:noFill/>
              </a:ln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4400">
                <a:ln w="22225">
                  <a:noFill/>
                </a:ln>
                <a:latin typeface="楷体" panose="02010609060101010101" charset="-122"/>
                <a:ea typeface="楷体" panose="02010609060101010101" charset="-122"/>
              </a:rPr>
              <a:t>未来发展空间的调查</a:t>
            </a:r>
            <a:endParaRPr lang="zh-CN" altLang="en-US" sz="4400">
              <a:ln w="22225">
                <a:noFill/>
              </a:ln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152900" y="889635"/>
            <a:ext cx="3681095" cy="16148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152900" y="4787900"/>
            <a:ext cx="3681095" cy="16148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52900" y="2816225"/>
            <a:ext cx="3681095" cy="16141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865880" y="-1036955"/>
            <a:ext cx="4458970" cy="1615440"/>
          </a:xfrm>
          <a:prstGeom prst="ellipse">
            <a:avLst/>
          </a:prstGeom>
          <a:solidFill>
            <a:srgbClr val="8FA6A6"/>
          </a:solidFill>
          <a:ln>
            <a:noFill/>
          </a:ln>
          <a:effectLst>
            <a:outerShdw blurRad="228600" dir="10800000" sx="104000" sy="104000" algn="t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52440" y="-92075"/>
            <a:ext cx="1085850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chemeClr val="bg1"/>
                </a:solidFill>
              </a:rPr>
              <a:t>目录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27065" y="2816225"/>
            <a:ext cx="593725" cy="828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effectLst/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3200"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27065" y="870585"/>
            <a:ext cx="593090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effectLst/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3200"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26255" y="5334000"/>
            <a:ext cx="338328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发展空间与未来规划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26255" y="1216660"/>
            <a:ext cx="346138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玉环美食的历史传承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326255" y="3385185"/>
            <a:ext cx="33832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玉环美食的发展现状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26430" y="4787900"/>
            <a:ext cx="593725" cy="828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effectLst/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3200"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925" y="384619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 dir="u"/>
      </p:transition>
    </mc:Choice>
    <mc:Fallback>
      <p:transition spd="med">
        <p:pull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2900680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玉环美食的历史传承，是一部与海洋共生、与迁徙交融的渔耕文明史。它的根脉，深植于玉环先民“耕海牧渔”的生存智慧，并在数百年的人口迁徙与文化碰撞中，形成了今天山海交融的独特风味。</a:t>
            </a:r>
            <a:endParaRPr lang="zh-CN" altLang="en-US" sz="3600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3245485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 b="1">
                <a:ln>
                  <a:noFill/>
                </a:ln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源于生存：渔家智慧里的“应急”与“匠心”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玉环美食的起点，大多源于渔民出海时“鲜鱼不易保存”的现实难题。为了在海上也能吃上一口“海味”，渔家先民摸索出了多种保存与转化的智慧。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214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2754630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 b="1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兴于传说：抗倭记忆与节庆习俗的交织</a:t>
            </a:r>
            <a:endParaRPr lang="zh-CN" altLang="en-US" sz="3600" b="1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</a:rPr>
              <a:t>许多玉环美食的起源，都与明代戚继光抗倭的历史记忆紧密相连。相传戚家军曾用木棍敲击传递信息，战后这一技艺被民间沿用，逐渐演变为制作敲鱼面、鱼皮馄饨的独特手法。鱼皮馄饨至今仍是坎门人年夜饭中必不可少的一道菜肴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2754630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成于交融：移民迁徙带来的风味融合</a:t>
            </a:r>
            <a:endParaRPr lang="zh-CN" altLang="en-US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</a:rPr>
              <a:t>玉环作为海岛移民城市，历史上多次大规模的人口迁徙带来了多元文化的碰撞，直接塑造了其饮食的丰富性。坎门人的祖先多来自福建泉州、惠安、东山一带，他们将闽南的饮食习俗与玉环本地的山海资源结合，孕育出了独特的坎门风味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7365" y="426339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150" y="3429000"/>
            <a:ext cx="7724140" cy="30079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solidFill>
                  <a:schemeClr val="accent6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玉环美食底蕴深厚，近年来在品牌打造、政策扶持上确有推进，但从“有特色”到“有产业”、从“地方名吃”到“全国品牌”，中间还有明显的断层。以下从几个维度呈现其发展现状中“亟待突破”的一面。</a:t>
            </a:r>
            <a:endParaRPr lang="zh-CN" altLang="en-US" sz="3600">
              <a:solidFill>
                <a:schemeClr val="accent6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3600">
              <a:solidFill>
                <a:schemeClr val="accent6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9790" y="132524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产业形态：有市场热度，缺产业厚度</a:t>
            </a:r>
            <a:endParaRPr lang="zh-CN" altLang="en-US" sz="2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玉环不少特色小吃已显现出可观的市场需求，但产业组织方式仍停留在“前店后坊”的初级阶段。以海鲜粽为例，据流量分析本地市场规模或超千万元，但产业“仍以餐饮店及私房制作为主”。2025年一场海鲜粽非遗市集三天吸引超5000人次、市集交易额5.2万元，线上直播观看达11.3万人次，需求端的火爆与供给端的作坊式生产形成鲜明反差——“心福传承”手工坊首次直播即售出900多只粽子，负责人却“根本来不及制作”。这种“有订单、无产能”的困境，正是产业厚度不足的直接体现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9790" y="132524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 b="1">
                <a:latin typeface="Arial" panose="020B0604020202020204" pitchFamily="34" charset="0"/>
                <a:ea typeface="微软雅黑" panose="020B0503020204020204" charset="-122"/>
              </a:rPr>
              <a:t>技艺传承：非遗光环下的人才断层</a:t>
            </a:r>
            <a:endParaRPr lang="zh-CN" altLang="en-US" sz="2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敲鱼面、鱼皮馄饨等核心技艺虽已列入非遗名录，但传承链条极为脆弱。多方记述一致指向同一个现实：“现在的年轻人很少会做敲鱼面了”。更严峻的是，劣质产品正在侵蚀正宗技艺的生存空间——有从业者反映，市场上出现“用冷冻陈鱼代替鲜鱼”“大量添加淀粉减少鱼肉比例”“滥用添加剂改善口感”等做法，导致“劣币驱逐良币，正宗鱼面渐渐被劣质产品淹没”，一度让玉环敲鱼面的口碑下滑，甚至被误解为“廉价乏味的普通干货”。非遗代表性传承人陈红花二十余年的坚守固然珍贵，但一个产业的传承不能只靠个别人的情怀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41980" y="76009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 b="1">
                <a:latin typeface="Arial" panose="020B0604020202020204" pitchFamily="34" charset="0"/>
                <a:ea typeface="微软雅黑" panose="020B0503020204020204" charset="-122"/>
              </a:rPr>
              <a:t>品牌与文旅：有“金名片”之名，缺“金链条”之实</a:t>
            </a:r>
            <a:endParaRPr lang="zh-CN" altLang="en-US" sz="2800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台州菜·玉海宴”品牌已启动“九个一”推广工程，包括构建标准菜品体系、培育认证门店、举办美食节庆等。但品牌落地的深度仍显不足。玉环市政协委员在调研中指出，本土特色文旅元素“植入不足”、旅游引流渠道“单一”、宾馆与海岛游及台州1号公路沿线文旅线路“联动不够紧密”。换言之，玉环美食在文旅场景中的存在感，更多停留在“路过吃一顿”，而非“为一道菜赴一座城”。有分析更尖锐地指出，玉环“主题文化缺失，不论是海洋文化，还是移民文化、台胞文化等都没有得到有效彰显”。美食品牌若没有文化叙事的支撑，很难从“地方风味”升级为“目的地吸引力”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-2223153" y="3429206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529195" y="-26320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45025" y="6616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发展空间与未来规划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4263390"/>
            <a:ext cx="691515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3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2485" y="1350645"/>
            <a:ext cx="9371330" cy="4617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 b="1"/>
              <a:t>产业形态</a:t>
            </a:r>
            <a:endParaRPr lang="zh-CN" altLang="en-US" sz="3600" b="1"/>
          </a:p>
          <a:p>
            <a:endParaRPr lang="en-US" altLang="zh-CN" sz="3600"/>
          </a:p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玉环美食仍以作坊为主，产能与标准不足。未来可依托国际农博城中央厨房、大麦屿冷链中心，推动海鲜粽等标准化生产，把“前店后坊”升级为链式集群。海鲜粽等品类需求旺盛，却常“有订单、无产能”。应推广“大企帮小店”：龙头负责品控品牌，渔嫂负责前端加工，形成分散生产、集中销售、统一溯源的协作网络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-2223153" y="3429206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529195" y="-26320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45025" y="6616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发展空间与未来规划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4263390"/>
            <a:ext cx="691515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3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3310" y="1676400"/>
            <a:ext cx="9371330" cy="4617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 b="1"/>
              <a:t>技艺传承</a:t>
            </a:r>
            <a:endParaRPr lang="zh-CN" altLang="en-US" sz="3600" b="1"/>
          </a:p>
          <a:p>
            <a:endParaRPr lang="en-US" altLang="zh-CN" sz="3600"/>
          </a:p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技艺依赖少数传承人，年轻人断层明显。应落实非遗人才振兴计划，扩大师徒结对与补助，让传承人从“个人坚守”转向“制度性传承”，形成稳定职业前景。可建立敲鱼面等技艺数字标准库，记录配比、力度、时长；同时把非遗工坊升级为生产性工坊，在保留手工核心的同时适度机械化，解决产能瓶颈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984885" y="737870"/>
            <a:ext cx="10222230" cy="5382260"/>
          </a:xfrm>
          <a:prstGeom prst="rect">
            <a:avLst/>
          </a:prstGeom>
          <a:solidFill>
            <a:srgbClr val="FFFFFF"/>
          </a:solidFill>
          <a:effectLst>
            <a:outerShdw blurRad="342900" dir="10800000" sx="108000" sy="108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99210" y="1115695"/>
            <a:ext cx="9594215" cy="3877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</a:t>
            </a:r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玉环美食根植于耕海牧渔与移民交融，以敲鱼面、鱼皮馄饨、海鲜粽、番粉圆、文旦等为代表，讲究鲜味转化与手工技艺，承载抗倭记忆与节庆习俗。当前已有非遗认定和“玉海宴”品牌基础，但仍以作坊生产为主，标准化、传承梯队和文旅转化不足，正处于从“地方风味”向“系统产业能力”升级的关键阶段。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81245" y="488950"/>
            <a:ext cx="2429510" cy="73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感谢观</a:t>
            </a:r>
            <a:r>
              <a:rPr lang="zh-CN" altLang="en-US" sz="4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看</a:t>
            </a:r>
            <a:endParaRPr lang="zh-CN" altLang="en-US" sz="44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3490" y="3449320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图表配图:沈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9255" y="4284345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内容提炼:钰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59255" y="3449320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主题定调:钰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68745" y="4284345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校对审核:钰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73490" y="4284345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校对审核:钰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68745" y="3449320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视觉设计:钰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64000" y="3449320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资料核实:沈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64000" y="4284345"/>
            <a:ext cx="19373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资料核实:沈</a:t>
            </a:r>
            <a:endParaRPr lang="zh-CN" altLang="en-US" sz="2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48255" y="6134100"/>
            <a:ext cx="709549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v0.2.0   2026/10/05  </a:t>
            </a:r>
            <a:r>
              <a:rPr lang="zh-CN" altLang="en-US"/>
              <a:t>©版权所有侵权必究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WPS 演示</Application>
  <PresentationFormat>宽屏</PresentationFormat>
  <Paragraphs>130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黑体</vt:lpstr>
      <vt:lpstr>楷体</vt:lpstr>
      <vt:lpstr>微软雅黑</vt:lpstr>
      <vt:lpstr>Arial Unicode MS</vt:lpstr>
      <vt:lpstr>Calibri</vt:lpstr>
      <vt:lpstr>华文琥珀</vt:lpstr>
      <vt:lpstr>华文行楷</vt:lpstr>
      <vt:lpstr>隶书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161</cp:revision>
  <dcterms:created xsi:type="dcterms:W3CDTF">2019-06-19T02:08:00Z</dcterms:created>
  <dcterms:modified xsi:type="dcterms:W3CDTF">2026-10-25T03:07:07Z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64672780F0F64FD2AECCF60133CCEC45_13</vt:lpwstr>
  </property>
</Properties>
</file>